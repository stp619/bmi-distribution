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7" r:id="rId4"/>
  </p:sldMasterIdLst>
  <p:notesMasterIdLst>
    <p:notesMasterId r:id="rId20"/>
  </p:notesMasterIdLst>
  <p:sldIdLst>
    <p:sldId id="2767" r:id="rId5"/>
    <p:sldId id="257" r:id="rId6"/>
    <p:sldId id="258" r:id="rId7"/>
    <p:sldId id="259" r:id="rId8"/>
    <p:sldId id="260" r:id="rId9"/>
    <p:sldId id="261" r:id="rId10"/>
    <p:sldId id="269" r:id="rId11"/>
    <p:sldId id="263" r:id="rId12"/>
    <p:sldId id="264" r:id="rId13"/>
    <p:sldId id="270" r:id="rId14"/>
    <p:sldId id="265" r:id="rId15"/>
    <p:sldId id="266" r:id="rId16"/>
    <p:sldId id="2768" r:id="rId17"/>
    <p:sldId id="268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49D331-EF47-C6DD-250A-8B10A251D7EB}" v="4889" dt="2026-04-20T03:27:01.1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24"/>
    <p:restoredTop sz="94695"/>
  </p:normalViewPr>
  <p:slideViewPr>
    <p:cSldViewPr snapToGrid="0">
      <p:cViewPr>
        <p:scale>
          <a:sx n="100" d="100"/>
          <a:sy n="100" d="100"/>
        </p:scale>
        <p:origin x="-7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6CF203-9CEB-4602-9773-CDF11E393277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94935E37-8001-48CF-B6DF-30BED7683E23}">
      <dgm:prSet/>
      <dgm:spPr/>
      <dgm:t>
        <a:bodyPr/>
        <a:lstStyle/>
        <a:p>
          <a:r>
            <a:rPr lang="en-US" b="1" i="0"/>
            <a:t>The data cleaning and preparation process:</a:t>
          </a:r>
          <a:endParaRPr lang="en-US"/>
        </a:p>
      </dgm:t>
    </dgm:pt>
    <dgm:pt modelId="{E3F0541B-A695-438E-B9F1-FEE7C2B70351}" type="parTrans" cxnId="{E4BE0DA7-E802-4C5B-8F75-40870A93D687}">
      <dgm:prSet/>
      <dgm:spPr/>
      <dgm:t>
        <a:bodyPr/>
        <a:lstStyle/>
        <a:p>
          <a:endParaRPr lang="en-US"/>
        </a:p>
      </dgm:t>
    </dgm:pt>
    <dgm:pt modelId="{4CEAF575-1CF1-478F-9FAB-C31A8520B250}" type="sibTrans" cxnId="{E4BE0DA7-E802-4C5B-8F75-40870A93D687}">
      <dgm:prSet/>
      <dgm:spPr/>
      <dgm:t>
        <a:bodyPr/>
        <a:lstStyle/>
        <a:p>
          <a:endParaRPr lang="en-US"/>
        </a:p>
      </dgm:t>
    </dgm:pt>
    <dgm:pt modelId="{64D9DFD3-80C9-4A15-96C9-49D5CEE222E6}">
      <dgm:prSet/>
      <dgm:spPr/>
      <dgm:t>
        <a:bodyPr/>
        <a:lstStyle/>
        <a:p>
          <a:r>
            <a:rPr lang="en-US" b="1" i="0"/>
            <a:t>Selected only the variables relevant to the research question.</a:t>
          </a:r>
          <a:endParaRPr lang="en-US"/>
        </a:p>
      </dgm:t>
    </dgm:pt>
    <dgm:pt modelId="{CA9624B1-5480-4968-9AFD-DB538A40DEEF}" type="parTrans" cxnId="{3661F660-0D9E-461D-AAEA-BEB8C853F18F}">
      <dgm:prSet/>
      <dgm:spPr/>
      <dgm:t>
        <a:bodyPr/>
        <a:lstStyle/>
        <a:p>
          <a:endParaRPr lang="en-US"/>
        </a:p>
      </dgm:t>
    </dgm:pt>
    <dgm:pt modelId="{004CB31F-E542-445C-8A7D-CA23B1E1D462}" type="sibTrans" cxnId="{3661F660-0D9E-461D-AAEA-BEB8C853F18F}">
      <dgm:prSet/>
      <dgm:spPr/>
      <dgm:t>
        <a:bodyPr/>
        <a:lstStyle/>
        <a:p>
          <a:endParaRPr lang="en-US"/>
        </a:p>
      </dgm:t>
    </dgm:pt>
    <dgm:pt modelId="{2AD39C1D-52AA-48F1-93B2-DC6EDA5411BA}">
      <dgm:prSet/>
      <dgm:spPr/>
      <dgm:t>
        <a:bodyPr/>
        <a:lstStyle/>
        <a:p>
          <a:r>
            <a:rPr lang="en-US" b="1" i="0"/>
            <a:t>Merged Nhanes files using SEQN.</a:t>
          </a:r>
          <a:endParaRPr lang="en-US"/>
        </a:p>
      </dgm:t>
    </dgm:pt>
    <dgm:pt modelId="{DC9B15FB-3E9D-4653-A100-DF8C63E29867}" type="parTrans" cxnId="{222C579D-57B4-468B-A357-CB5909CA1CDA}">
      <dgm:prSet/>
      <dgm:spPr/>
      <dgm:t>
        <a:bodyPr/>
        <a:lstStyle/>
        <a:p>
          <a:endParaRPr lang="en-US"/>
        </a:p>
      </dgm:t>
    </dgm:pt>
    <dgm:pt modelId="{DA301D3B-1FA3-4D78-B31E-A77180DD577F}" type="sibTrans" cxnId="{222C579D-57B4-468B-A357-CB5909CA1CDA}">
      <dgm:prSet/>
      <dgm:spPr/>
      <dgm:t>
        <a:bodyPr/>
        <a:lstStyle/>
        <a:p>
          <a:endParaRPr lang="en-US"/>
        </a:p>
      </dgm:t>
    </dgm:pt>
    <dgm:pt modelId="{F5F5434F-D055-43C0-8FC5-CE81F82C0AB0}">
      <dgm:prSet/>
      <dgm:spPr/>
      <dgm:t>
        <a:bodyPr/>
        <a:lstStyle/>
        <a:p>
          <a:r>
            <a:rPr lang="en-US" b="1" i="0"/>
            <a:t>Restricted the sample to adults age 18 and older.</a:t>
          </a:r>
          <a:endParaRPr lang="en-US"/>
        </a:p>
      </dgm:t>
    </dgm:pt>
    <dgm:pt modelId="{203E575F-22C1-45BE-A3B5-E1F0D4B1E8DE}" type="parTrans" cxnId="{AEA05A8C-7C08-4E21-B3A4-340A650BDA1F}">
      <dgm:prSet/>
      <dgm:spPr/>
      <dgm:t>
        <a:bodyPr/>
        <a:lstStyle/>
        <a:p>
          <a:endParaRPr lang="en-US"/>
        </a:p>
      </dgm:t>
    </dgm:pt>
    <dgm:pt modelId="{71F7FF01-2218-482E-A65A-D90755BE298F}" type="sibTrans" cxnId="{AEA05A8C-7C08-4E21-B3A4-340A650BDA1F}">
      <dgm:prSet/>
      <dgm:spPr/>
      <dgm:t>
        <a:bodyPr/>
        <a:lstStyle/>
        <a:p>
          <a:endParaRPr lang="en-US"/>
        </a:p>
      </dgm:t>
    </dgm:pt>
    <dgm:pt modelId="{CAE697AB-90D2-4C14-ACB2-991C02D9226C}">
      <dgm:prSet/>
      <dgm:spPr/>
      <dgm:t>
        <a:bodyPr/>
        <a:lstStyle/>
        <a:p>
          <a:r>
            <a:rPr lang="en-US" b="1" i="0"/>
            <a:t>Removed missing values in key varables</a:t>
          </a:r>
          <a:endParaRPr lang="en-US"/>
        </a:p>
      </dgm:t>
    </dgm:pt>
    <dgm:pt modelId="{491A9D3B-FBF2-42F1-BE7C-61267F5E839B}" type="parTrans" cxnId="{E6334A48-5CAF-4B3D-98F5-80FB7D9BE138}">
      <dgm:prSet/>
      <dgm:spPr/>
      <dgm:t>
        <a:bodyPr/>
        <a:lstStyle/>
        <a:p>
          <a:endParaRPr lang="en-US"/>
        </a:p>
      </dgm:t>
    </dgm:pt>
    <dgm:pt modelId="{A866A7AB-EE6D-4405-8F08-05AB69BE31DD}" type="sibTrans" cxnId="{E6334A48-5CAF-4B3D-98F5-80FB7D9BE138}">
      <dgm:prSet/>
      <dgm:spPr/>
      <dgm:t>
        <a:bodyPr/>
        <a:lstStyle/>
        <a:p>
          <a:endParaRPr lang="en-US"/>
        </a:p>
      </dgm:t>
    </dgm:pt>
    <dgm:pt modelId="{DD3F2BC0-91DE-45C0-B6A0-04E691659686}">
      <dgm:prSet/>
      <dgm:spPr/>
      <dgm:t>
        <a:bodyPr/>
        <a:lstStyle/>
        <a:p>
          <a:r>
            <a:rPr lang="en-US" b="1" i="0"/>
            <a:t>Created activity groups for the t-test and regression model</a:t>
          </a:r>
          <a:endParaRPr lang="en-US"/>
        </a:p>
      </dgm:t>
    </dgm:pt>
    <dgm:pt modelId="{9BAC314E-8996-427E-B735-1B44FA2FBC23}" type="parTrans" cxnId="{A0277F41-43A5-4B6B-8426-05F886D55E37}">
      <dgm:prSet/>
      <dgm:spPr/>
      <dgm:t>
        <a:bodyPr/>
        <a:lstStyle/>
        <a:p>
          <a:endParaRPr lang="en-US"/>
        </a:p>
      </dgm:t>
    </dgm:pt>
    <dgm:pt modelId="{00461BDF-63E1-47A9-8348-1071DB16468B}" type="sibTrans" cxnId="{A0277F41-43A5-4B6B-8426-05F886D55E37}">
      <dgm:prSet/>
      <dgm:spPr/>
      <dgm:t>
        <a:bodyPr/>
        <a:lstStyle/>
        <a:p>
          <a:endParaRPr lang="en-US"/>
        </a:p>
      </dgm:t>
    </dgm:pt>
    <dgm:pt modelId="{42E4BFAD-AB3B-4346-B1B7-EC3356955704}" type="pres">
      <dgm:prSet presAssocID="{D76CF203-9CEB-4602-9773-CDF11E393277}" presName="vert0" presStyleCnt="0">
        <dgm:presLayoutVars>
          <dgm:dir/>
          <dgm:animOne val="branch"/>
          <dgm:animLvl val="lvl"/>
        </dgm:presLayoutVars>
      </dgm:prSet>
      <dgm:spPr/>
    </dgm:pt>
    <dgm:pt modelId="{00502940-3073-4E98-9950-EA2EBF83EDAC}" type="pres">
      <dgm:prSet presAssocID="{94935E37-8001-48CF-B6DF-30BED7683E23}" presName="thickLine" presStyleLbl="alignNode1" presStyleIdx="0" presStyleCnt="1"/>
      <dgm:spPr/>
    </dgm:pt>
    <dgm:pt modelId="{26E65F86-280A-4F38-B6CC-5CC464708F7A}" type="pres">
      <dgm:prSet presAssocID="{94935E37-8001-48CF-B6DF-30BED7683E23}" presName="horz1" presStyleCnt="0"/>
      <dgm:spPr/>
    </dgm:pt>
    <dgm:pt modelId="{005B807D-14B4-45B2-831B-40C830657FDB}" type="pres">
      <dgm:prSet presAssocID="{94935E37-8001-48CF-B6DF-30BED7683E23}" presName="tx1" presStyleLbl="revTx" presStyleIdx="0" presStyleCnt="6"/>
      <dgm:spPr/>
    </dgm:pt>
    <dgm:pt modelId="{09EE70EC-E910-477C-9D35-DAD0172949F5}" type="pres">
      <dgm:prSet presAssocID="{94935E37-8001-48CF-B6DF-30BED7683E23}" presName="vert1" presStyleCnt="0"/>
      <dgm:spPr/>
    </dgm:pt>
    <dgm:pt modelId="{35EB2453-D694-433E-AA15-B49FA1455239}" type="pres">
      <dgm:prSet presAssocID="{64D9DFD3-80C9-4A15-96C9-49D5CEE222E6}" presName="vertSpace2a" presStyleCnt="0"/>
      <dgm:spPr/>
    </dgm:pt>
    <dgm:pt modelId="{B7A10793-EE07-4993-9E5F-6BD35897822D}" type="pres">
      <dgm:prSet presAssocID="{64D9DFD3-80C9-4A15-96C9-49D5CEE222E6}" presName="horz2" presStyleCnt="0"/>
      <dgm:spPr/>
    </dgm:pt>
    <dgm:pt modelId="{6828A5C1-16F4-47D5-BD9B-7AEEC8C6B527}" type="pres">
      <dgm:prSet presAssocID="{64D9DFD3-80C9-4A15-96C9-49D5CEE222E6}" presName="horzSpace2" presStyleCnt="0"/>
      <dgm:spPr/>
    </dgm:pt>
    <dgm:pt modelId="{344ABC22-1276-497D-94C0-293FF45D20A3}" type="pres">
      <dgm:prSet presAssocID="{64D9DFD3-80C9-4A15-96C9-49D5CEE222E6}" presName="tx2" presStyleLbl="revTx" presStyleIdx="1" presStyleCnt="6"/>
      <dgm:spPr/>
    </dgm:pt>
    <dgm:pt modelId="{21D473D4-CADF-4B50-9725-37E33B4F2FD3}" type="pres">
      <dgm:prSet presAssocID="{64D9DFD3-80C9-4A15-96C9-49D5CEE222E6}" presName="vert2" presStyleCnt="0"/>
      <dgm:spPr/>
    </dgm:pt>
    <dgm:pt modelId="{B692E934-EA3A-4BE7-9308-F933EA125C2C}" type="pres">
      <dgm:prSet presAssocID="{64D9DFD3-80C9-4A15-96C9-49D5CEE222E6}" presName="thinLine2b" presStyleLbl="callout" presStyleIdx="0" presStyleCnt="5"/>
      <dgm:spPr/>
    </dgm:pt>
    <dgm:pt modelId="{1147B2D4-C336-4F3E-951A-46EE63F77951}" type="pres">
      <dgm:prSet presAssocID="{64D9DFD3-80C9-4A15-96C9-49D5CEE222E6}" presName="vertSpace2b" presStyleCnt="0"/>
      <dgm:spPr/>
    </dgm:pt>
    <dgm:pt modelId="{F17E4BFB-07CA-4327-83DB-C15939DBFB21}" type="pres">
      <dgm:prSet presAssocID="{2AD39C1D-52AA-48F1-93B2-DC6EDA5411BA}" presName="horz2" presStyleCnt="0"/>
      <dgm:spPr/>
    </dgm:pt>
    <dgm:pt modelId="{375EEEB9-78AF-4F2A-8A4A-0DED51C19B22}" type="pres">
      <dgm:prSet presAssocID="{2AD39C1D-52AA-48F1-93B2-DC6EDA5411BA}" presName="horzSpace2" presStyleCnt="0"/>
      <dgm:spPr/>
    </dgm:pt>
    <dgm:pt modelId="{A63AC9B3-1C3C-43F3-8C5B-88B23DEC5C0C}" type="pres">
      <dgm:prSet presAssocID="{2AD39C1D-52AA-48F1-93B2-DC6EDA5411BA}" presName="tx2" presStyleLbl="revTx" presStyleIdx="2" presStyleCnt="6"/>
      <dgm:spPr/>
    </dgm:pt>
    <dgm:pt modelId="{F2A7BCE7-4E80-4F81-B6BD-4921FE641A30}" type="pres">
      <dgm:prSet presAssocID="{2AD39C1D-52AA-48F1-93B2-DC6EDA5411BA}" presName="vert2" presStyleCnt="0"/>
      <dgm:spPr/>
    </dgm:pt>
    <dgm:pt modelId="{7FDC7A92-9DD3-4707-9F1C-B8C4FB7E8337}" type="pres">
      <dgm:prSet presAssocID="{2AD39C1D-52AA-48F1-93B2-DC6EDA5411BA}" presName="thinLine2b" presStyleLbl="callout" presStyleIdx="1" presStyleCnt="5"/>
      <dgm:spPr/>
    </dgm:pt>
    <dgm:pt modelId="{FDE06C58-8F4E-4A62-B297-E873E10726D1}" type="pres">
      <dgm:prSet presAssocID="{2AD39C1D-52AA-48F1-93B2-DC6EDA5411BA}" presName="vertSpace2b" presStyleCnt="0"/>
      <dgm:spPr/>
    </dgm:pt>
    <dgm:pt modelId="{8D19C2B6-45FB-4E53-801B-4D18FB9CF6D0}" type="pres">
      <dgm:prSet presAssocID="{F5F5434F-D055-43C0-8FC5-CE81F82C0AB0}" presName="horz2" presStyleCnt="0"/>
      <dgm:spPr/>
    </dgm:pt>
    <dgm:pt modelId="{476424A5-722C-40E5-A1FA-A04B2B055489}" type="pres">
      <dgm:prSet presAssocID="{F5F5434F-D055-43C0-8FC5-CE81F82C0AB0}" presName="horzSpace2" presStyleCnt="0"/>
      <dgm:spPr/>
    </dgm:pt>
    <dgm:pt modelId="{A7FEB6C5-AA98-443B-ACEF-7C35AC114DF0}" type="pres">
      <dgm:prSet presAssocID="{F5F5434F-D055-43C0-8FC5-CE81F82C0AB0}" presName="tx2" presStyleLbl="revTx" presStyleIdx="3" presStyleCnt="6"/>
      <dgm:spPr/>
    </dgm:pt>
    <dgm:pt modelId="{8E05EA56-E3F7-4F24-87CE-C364D5D7A3DA}" type="pres">
      <dgm:prSet presAssocID="{F5F5434F-D055-43C0-8FC5-CE81F82C0AB0}" presName="vert2" presStyleCnt="0"/>
      <dgm:spPr/>
    </dgm:pt>
    <dgm:pt modelId="{4656DE82-3826-4387-A366-3CEA9ADA5AC3}" type="pres">
      <dgm:prSet presAssocID="{F5F5434F-D055-43C0-8FC5-CE81F82C0AB0}" presName="thinLine2b" presStyleLbl="callout" presStyleIdx="2" presStyleCnt="5"/>
      <dgm:spPr/>
    </dgm:pt>
    <dgm:pt modelId="{FA5449A3-9F13-4564-AB7E-19A681D685EB}" type="pres">
      <dgm:prSet presAssocID="{F5F5434F-D055-43C0-8FC5-CE81F82C0AB0}" presName="vertSpace2b" presStyleCnt="0"/>
      <dgm:spPr/>
    </dgm:pt>
    <dgm:pt modelId="{E495DCA9-CF3F-49C9-9978-4B007609095B}" type="pres">
      <dgm:prSet presAssocID="{CAE697AB-90D2-4C14-ACB2-991C02D9226C}" presName="horz2" presStyleCnt="0"/>
      <dgm:spPr/>
    </dgm:pt>
    <dgm:pt modelId="{EFD04143-32C6-40A8-A0B0-04598F5C05F9}" type="pres">
      <dgm:prSet presAssocID="{CAE697AB-90D2-4C14-ACB2-991C02D9226C}" presName="horzSpace2" presStyleCnt="0"/>
      <dgm:spPr/>
    </dgm:pt>
    <dgm:pt modelId="{4FF62C9C-E4EB-44C8-AE45-10A4824E425B}" type="pres">
      <dgm:prSet presAssocID="{CAE697AB-90D2-4C14-ACB2-991C02D9226C}" presName="tx2" presStyleLbl="revTx" presStyleIdx="4" presStyleCnt="6"/>
      <dgm:spPr/>
    </dgm:pt>
    <dgm:pt modelId="{94F67BAE-9BE6-4510-B576-DC2644BBDD20}" type="pres">
      <dgm:prSet presAssocID="{CAE697AB-90D2-4C14-ACB2-991C02D9226C}" presName="vert2" presStyleCnt="0"/>
      <dgm:spPr/>
    </dgm:pt>
    <dgm:pt modelId="{B709E790-1AE8-484D-A7CB-D74AF828BBB2}" type="pres">
      <dgm:prSet presAssocID="{CAE697AB-90D2-4C14-ACB2-991C02D9226C}" presName="thinLine2b" presStyleLbl="callout" presStyleIdx="3" presStyleCnt="5"/>
      <dgm:spPr/>
    </dgm:pt>
    <dgm:pt modelId="{90D0EFDE-96A6-4034-9D9D-FA5800EFD0A5}" type="pres">
      <dgm:prSet presAssocID="{CAE697AB-90D2-4C14-ACB2-991C02D9226C}" presName="vertSpace2b" presStyleCnt="0"/>
      <dgm:spPr/>
    </dgm:pt>
    <dgm:pt modelId="{EF13DE13-7C38-4213-A553-C1BAD411607F}" type="pres">
      <dgm:prSet presAssocID="{DD3F2BC0-91DE-45C0-B6A0-04E691659686}" presName="horz2" presStyleCnt="0"/>
      <dgm:spPr/>
    </dgm:pt>
    <dgm:pt modelId="{08EC1331-84A2-4CE7-AF1A-90258DF18F4E}" type="pres">
      <dgm:prSet presAssocID="{DD3F2BC0-91DE-45C0-B6A0-04E691659686}" presName="horzSpace2" presStyleCnt="0"/>
      <dgm:spPr/>
    </dgm:pt>
    <dgm:pt modelId="{C645E3B4-A495-4FD7-A9EA-37D15B4C3B8B}" type="pres">
      <dgm:prSet presAssocID="{DD3F2BC0-91DE-45C0-B6A0-04E691659686}" presName="tx2" presStyleLbl="revTx" presStyleIdx="5" presStyleCnt="6"/>
      <dgm:spPr/>
    </dgm:pt>
    <dgm:pt modelId="{72377F6F-2D83-4B66-8E79-E7BC1D56BC48}" type="pres">
      <dgm:prSet presAssocID="{DD3F2BC0-91DE-45C0-B6A0-04E691659686}" presName="vert2" presStyleCnt="0"/>
      <dgm:spPr/>
    </dgm:pt>
    <dgm:pt modelId="{80D7F060-D98E-4BC7-AD8D-6AA66DB30B0A}" type="pres">
      <dgm:prSet presAssocID="{DD3F2BC0-91DE-45C0-B6A0-04E691659686}" presName="thinLine2b" presStyleLbl="callout" presStyleIdx="4" presStyleCnt="5"/>
      <dgm:spPr/>
    </dgm:pt>
    <dgm:pt modelId="{C5849DDD-A61A-42EA-9C9F-B6232FDF8B97}" type="pres">
      <dgm:prSet presAssocID="{DD3F2BC0-91DE-45C0-B6A0-04E691659686}" presName="vertSpace2b" presStyleCnt="0"/>
      <dgm:spPr/>
    </dgm:pt>
  </dgm:ptLst>
  <dgm:cxnLst>
    <dgm:cxn modelId="{2DCDF214-EEBB-49F9-965F-53A0C929BFFC}" type="presOf" srcId="{F5F5434F-D055-43C0-8FC5-CE81F82C0AB0}" destId="{A7FEB6C5-AA98-443B-ACEF-7C35AC114DF0}" srcOrd="0" destOrd="0" presId="urn:microsoft.com/office/officeart/2008/layout/LinedList"/>
    <dgm:cxn modelId="{CEBE6016-AA77-4F92-A857-1F2E8A51BACB}" type="presOf" srcId="{2AD39C1D-52AA-48F1-93B2-DC6EDA5411BA}" destId="{A63AC9B3-1C3C-43F3-8C5B-88B23DEC5C0C}" srcOrd="0" destOrd="0" presId="urn:microsoft.com/office/officeart/2008/layout/LinedList"/>
    <dgm:cxn modelId="{3661F660-0D9E-461D-AAEA-BEB8C853F18F}" srcId="{94935E37-8001-48CF-B6DF-30BED7683E23}" destId="{64D9DFD3-80C9-4A15-96C9-49D5CEE222E6}" srcOrd="0" destOrd="0" parTransId="{CA9624B1-5480-4968-9AFD-DB538A40DEEF}" sibTransId="{004CB31F-E542-445C-8A7D-CA23B1E1D462}"/>
    <dgm:cxn modelId="{A0277F41-43A5-4B6B-8426-05F886D55E37}" srcId="{94935E37-8001-48CF-B6DF-30BED7683E23}" destId="{DD3F2BC0-91DE-45C0-B6A0-04E691659686}" srcOrd="4" destOrd="0" parTransId="{9BAC314E-8996-427E-B735-1B44FA2FBC23}" sibTransId="{00461BDF-63E1-47A9-8348-1071DB16468B}"/>
    <dgm:cxn modelId="{E6334A48-5CAF-4B3D-98F5-80FB7D9BE138}" srcId="{94935E37-8001-48CF-B6DF-30BED7683E23}" destId="{CAE697AB-90D2-4C14-ACB2-991C02D9226C}" srcOrd="3" destOrd="0" parTransId="{491A9D3B-FBF2-42F1-BE7C-61267F5E839B}" sibTransId="{A866A7AB-EE6D-4405-8F08-05AB69BE31DD}"/>
    <dgm:cxn modelId="{7D0D486D-86CA-48E8-813E-E0B074117C0B}" type="presOf" srcId="{94935E37-8001-48CF-B6DF-30BED7683E23}" destId="{005B807D-14B4-45B2-831B-40C830657FDB}" srcOrd="0" destOrd="0" presId="urn:microsoft.com/office/officeart/2008/layout/LinedList"/>
    <dgm:cxn modelId="{28B80473-48EF-4AB5-81B3-711200BB901E}" type="presOf" srcId="{64D9DFD3-80C9-4A15-96C9-49D5CEE222E6}" destId="{344ABC22-1276-497D-94C0-293FF45D20A3}" srcOrd="0" destOrd="0" presId="urn:microsoft.com/office/officeart/2008/layout/LinedList"/>
    <dgm:cxn modelId="{596ED580-2C58-4AB8-8E99-B79C7A49211C}" type="presOf" srcId="{CAE697AB-90D2-4C14-ACB2-991C02D9226C}" destId="{4FF62C9C-E4EB-44C8-AE45-10A4824E425B}" srcOrd="0" destOrd="0" presId="urn:microsoft.com/office/officeart/2008/layout/LinedList"/>
    <dgm:cxn modelId="{AEA05A8C-7C08-4E21-B3A4-340A650BDA1F}" srcId="{94935E37-8001-48CF-B6DF-30BED7683E23}" destId="{F5F5434F-D055-43C0-8FC5-CE81F82C0AB0}" srcOrd="2" destOrd="0" parTransId="{203E575F-22C1-45BE-A3B5-E1F0D4B1E8DE}" sibTransId="{71F7FF01-2218-482E-A65A-D90755BE298F}"/>
    <dgm:cxn modelId="{FAA5D392-F5C4-4608-AA8B-2FC7ED232D6B}" type="presOf" srcId="{DD3F2BC0-91DE-45C0-B6A0-04E691659686}" destId="{C645E3B4-A495-4FD7-A9EA-37D15B4C3B8B}" srcOrd="0" destOrd="0" presId="urn:microsoft.com/office/officeart/2008/layout/LinedList"/>
    <dgm:cxn modelId="{222C579D-57B4-468B-A357-CB5909CA1CDA}" srcId="{94935E37-8001-48CF-B6DF-30BED7683E23}" destId="{2AD39C1D-52AA-48F1-93B2-DC6EDA5411BA}" srcOrd="1" destOrd="0" parTransId="{DC9B15FB-3E9D-4653-A100-DF8C63E29867}" sibTransId="{DA301D3B-1FA3-4D78-B31E-A77180DD577F}"/>
    <dgm:cxn modelId="{E4BE0DA7-E802-4C5B-8F75-40870A93D687}" srcId="{D76CF203-9CEB-4602-9773-CDF11E393277}" destId="{94935E37-8001-48CF-B6DF-30BED7683E23}" srcOrd="0" destOrd="0" parTransId="{E3F0541B-A695-438E-B9F1-FEE7C2B70351}" sibTransId="{4CEAF575-1CF1-478F-9FAB-C31A8520B250}"/>
    <dgm:cxn modelId="{5A96CFEA-BB46-495D-A9E6-1DD2DEBCA4E4}" type="presOf" srcId="{D76CF203-9CEB-4602-9773-CDF11E393277}" destId="{42E4BFAD-AB3B-4346-B1B7-EC3356955704}" srcOrd="0" destOrd="0" presId="urn:microsoft.com/office/officeart/2008/layout/LinedList"/>
    <dgm:cxn modelId="{357AB6D5-7B5E-4D26-BE48-E09AE07C8252}" type="presParOf" srcId="{42E4BFAD-AB3B-4346-B1B7-EC3356955704}" destId="{00502940-3073-4E98-9950-EA2EBF83EDAC}" srcOrd="0" destOrd="0" presId="urn:microsoft.com/office/officeart/2008/layout/LinedList"/>
    <dgm:cxn modelId="{7C93347F-0B33-4664-BDBD-DD6C7707254E}" type="presParOf" srcId="{42E4BFAD-AB3B-4346-B1B7-EC3356955704}" destId="{26E65F86-280A-4F38-B6CC-5CC464708F7A}" srcOrd="1" destOrd="0" presId="urn:microsoft.com/office/officeart/2008/layout/LinedList"/>
    <dgm:cxn modelId="{072D09F3-094D-482A-B080-FEA9D20FDD6C}" type="presParOf" srcId="{26E65F86-280A-4F38-B6CC-5CC464708F7A}" destId="{005B807D-14B4-45B2-831B-40C830657FDB}" srcOrd="0" destOrd="0" presId="urn:microsoft.com/office/officeart/2008/layout/LinedList"/>
    <dgm:cxn modelId="{CD6660B6-F13D-40E5-984F-2259E7F50691}" type="presParOf" srcId="{26E65F86-280A-4F38-B6CC-5CC464708F7A}" destId="{09EE70EC-E910-477C-9D35-DAD0172949F5}" srcOrd="1" destOrd="0" presId="urn:microsoft.com/office/officeart/2008/layout/LinedList"/>
    <dgm:cxn modelId="{6ACC6EFA-721B-4FE3-AFC5-DA61CA8F35AE}" type="presParOf" srcId="{09EE70EC-E910-477C-9D35-DAD0172949F5}" destId="{35EB2453-D694-433E-AA15-B49FA1455239}" srcOrd="0" destOrd="0" presId="urn:microsoft.com/office/officeart/2008/layout/LinedList"/>
    <dgm:cxn modelId="{33090DB6-F18B-428F-B8D8-95A4CC140F6F}" type="presParOf" srcId="{09EE70EC-E910-477C-9D35-DAD0172949F5}" destId="{B7A10793-EE07-4993-9E5F-6BD35897822D}" srcOrd="1" destOrd="0" presId="urn:microsoft.com/office/officeart/2008/layout/LinedList"/>
    <dgm:cxn modelId="{1D308233-541D-48E9-8830-5A390F68F53D}" type="presParOf" srcId="{B7A10793-EE07-4993-9E5F-6BD35897822D}" destId="{6828A5C1-16F4-47D5-BD9B-7AEEC8C6B527}" srcOrd="0" destOrd="0" presId="urn:microsoft.com/office/officeart/2008/layout/LinedList"/>
    <dgm:cxn modelId="{AE8C84A6-C8F7-4C5D-AC51-B316EFDA3BF6}" type="presParOf" srcId="{B7A10793-EE07-4993-9E5F-6BD35897822D}" destId="{344ABC22-1276-497D-94C0-293FF45D20A3}" srcOrd="1" destOrd="0" presId="urn:microsoft.com/office/officeart/2008/layout/LinedList"/>
    <dgm:cxn modelId="{22FF0A6E-934D-40FE-BC58-B357F26D3F3A}" type="presParOf" srcId="{B7A10793-EE07-4993-9E5F-6BD35897822D}" destId="{21D473D4-CADF-4B50-9725-37E33B4F2FD3}" srcOrd="2" destOrd="0" presId="urn:microsoft.com/office/officeart/2008/layout/LinedList"/>
    <dgm:cxn modelId="{7C0742C0-7BD9-40E5-86EF-0493FC01288A}" type="presParOf" srcId="{09EE70EC-E910-477C-9D35-DAD0172949F5}" destId="{B692E934-EA3A-4BE7-9308-F933EA125C2C}" srcOrd="2" destOrd="0" presId="urn:microsoft.com/office/officeart/2008/layout/LinedList"/>
    <dgm:cxn modelId="{F8BDD0C9-0784-4EC9-9C19-8B005DD4E8CD}" type="presParOf" srcId="{09EE70EC-E910-477C-9D35-DAD0172949F5}" destId="{1147B2D4-C336-4F3E-951A-46EE63F77951}" srcOrd="3" destOrd="0" presId="urn:microsoft.com/office/officeart/2008/layout/LinedList"/>
    <dgm:cxn modelId="{6ECC3439-EA80-4748-BBBE-FFFF5FAC43CA}" type="presParOf" srcId="{09EE70EC-E910-477C-9D35-DAD0172949F5}" destId="{F17E4BFB-07CA-4327-83DB-C15939DBFB21}" srcOrd="4" destOrd="0" presId="urn:microsoft.com/office/officeart/2008/layout/LinedList"/>
    <dgm:cxn modelId="{A8C6677C-9C80-4A00-9097-6D7EAC9625DF}" type="presParOf" srcId="{F17E4BFB-07CA-4327-83DB-C15939DBFB21}" destId="{375EEEB9-78AF-4F2A-8A4A-0DED51C19B22}" srcOrd="0" destOrd="0" presId="urn:microsoft.com/office/officeart/2008/layout/LinedList"/>
    <dgm:cxn modelId="{341DE0DB-BB65-41DF-92E4-2D40A73E4366}" type="presParOf" srcId="{F17E4BFB-07CA-4327-83DB-C15939DBFB21}" destId="{A63AC9B3-1C3C-43F3-8C5B-88B23DEC5C0C}" srcOrd="1" destOrd="0" presId="urn:microsoft.com/office/officeart/2008/layout/LinedList"/>
    <dgm:cxn modelId="{9711B628-F399-49E6-A834-BDDD3875D2BA}" type="presParOf" srcId="{F17E4BFB-07CA-4327-83DB-C15939DBFB21}" destId="{F2A7BCE7-4E80-4F81-B6BD-4921FE641A30}" srcOrd="2" destOrd="0" presId="urn:microsoft.com/office/officeart/2008/layout/LinedList"/>
    <dgm:cxn modelId="{963C5C23-FD28-4117-8814-F6B627B6680F}" type="presParOf" srcId="{09EE70EC-E910-477C-9D35-DAD0172949F5}" destId="{7FDC7A92-9DD3-4707-9F1C-B8C4FB7E8337}" srcOrd="5" destOrd="0" presId="urn:microsoft.com/office/officeart/2008/layout/LinedList"/>
    <dgm:cxn modelId="{DB93E229-7912-44A5-8EE8-CD4315836ED5}" type="presParOf" srcId="{09EE70EC-E910-477C-9D35-DAD0172949F5}" destId="{FDE06C58-8F4E-4A62-B297-E873E10726D1}" srcOrd="6" destOrd="0" presId="urn:microsoft.com/office/officeart/2008/layout/LinedList"/>
    <dgm:cxn modelId="{A11EE022-E891-4F2F-8FE8-62FBA841F49E}" type="presParOf" srcId="{09EE70EC-E910-477C-9D35-DAD0172949F5}" destId="{8D19C2B6-45FB-4E53-801B-4D18FB9CF6D0}" srcOrd="7" destOrd="0" presId="urn:microsoft.com/office/officeart/2008/layout/LinedList"/>
    <dgm:cxn modelId="{754BC4C4-19D7-432C-824B-BE7EAD443FB4}" type="presParOf" srcId="{8D19C2B6-45FB-4E53-801B-4D18FB9CF6D0}" destId="{476424A5-722C-40E5-A1FA-A04B2B055489}" srcOrd="0" destOrd="0" presId="urn:microsoft.com/office/officeart/2008/layout/LinedList"/>
    <dgm:cxn modelId="{ADF371F7-7DE2-4CAD-AB70-7B7C7FE106BB}" type="presParOf" srcId="{8D19C2B6-45FB-4E53-801B-4D18FB9CF6D0}" destId="{A7FEB6C5-AA98-443B-ACEF-7C35AC114DF0}" srcOrd="1" destOrd="0" presId="urn:microsoft.com/office/officeart/2008/layout/LinedList"/>
    <dgm:cxn modelId="{8975DB7C-7E1B-4D95-AECA-D651E71B9CBE}" type="presParOf" srcId="{8D19C2B6-45FB-4E53-801B-4D18FB9CF6D0}" destId="{8E05EA56-E3F7-4F24-87CE-C364D5D7A3DA}" srcOrd="2" destOrd="0" presId="urn:microsoft.com/office/officeart/2008/layout/LinedList"/>
    <dgm:cxn modelId="{63E39810-193C-42A1-854A-AA66639BD4ED}" type="presParOf" srcId="{09EE70EC-E910-477C-9D35-DAD0172949F5}" destId="{4656DE82-3826-4387-A366-3CEA9ADA5AC3}" srcOrd="8" destOrd="0" presId="urn:microsoft.com/office/officeart/2008/layout/LinedList"/>
    <dgm:cxn modelId="{B72020BA-71D2-4DA4-A61E-B18BB05E53D8}" type="presParOf" srcId="{09EE70EC-E910-477C-9D35-DAD0172949F5}" destId="{FA5449A3-9F13-4564-AB7E-19A681D685EB}" srcOrd="9" destOrd="0" presId="urn:microsoft.com/office/officeart/2008/layout/LinedList"/>
    <dgm:cxn modelId="{58D749F7-56A3-49C7-BCAC-7F4CE9F0C5D0}" type="presParOf" srcId="{09EE70EC-E910-477C-9D35-DAD0172949F5}" destId="{E495DCA9-CF3F-49C9-9978-4B007609095B}" srcOrd="10" destOrd="0" presId="urn:microsoft.com/office/officeart/2008/layout/LinedList"/>
    <dgm:cxn modelId="{FD033485-2361-4E64-B616-D632D6F066A0}" type="presParOf" srcId="{E495DCA9-CF3F-49C9-9978-4B007609095B}" destId="{EFD04143-32C6-40A8-A0B0-04598F5C05F9}" srcOrd="0" destOrd="0" presId="urn:microsoft.com/office/officeart/2008/layout/LinedList"/>
    <dgm:cxn modelId="{546A1340-38FC-444E-9ABE-A1D306E23070}" type="presParOf" srcId="{E495DCA9-CF3F-49C9-9978-4B007609095B}" destId="{4FF62C9C-E4EB-44C8-AE45-10A4824E425B}" srcOrd="1" destOrd="0" presId="urn:microsoft.com/office/officeart/2008/layout/LinedList"/>
    <dgm:cxn modelId="{8716AA57-75AD-4CF7-9D0C-8BB9B8938D34}" type="presParOf" srcId="{E495DCA9-CF3F-49C9-9978-4B007609095B}" destId="{94F67BAE-9BE6-4510-B576-DC2644BBDD20}" srcOrd="2" destOrd="0" presId="urn:microsoft.com/office/officeart/2008/layout/LinedList"/>
    <dgm:cxn modelId="{3E5E76D1-C700-406C-B434-9631ACC71EAD}" type="presParOf" srcId="{09EE70EC-E910-477C-9D35-DAD0172949F5}" destId="{B709E790-1AE8-484D-A7CB-D74AF828BBB2}" srcOrd="11" destOrd="0" presId="urn:microsoft.com/office/officeart/2008/layout/LinedList"/>
    <dgm:cxn modelId="{20746EFA-9846-43C9-9443-A9BD23C41B07}" type="presParOf" srcId="{09EE70EC-E910-477C-9D35-DAD0172949F5}" destId="{90D0EFDE-96A6-4034-9D9D-FA5800EFD0A5}" srcOrd="12" destOrd="0" presId="urn:microsoft.com/office/officeart/2008/layout/LinedList"/>
    <dgm:cxn modelId="{0D76F17D-07E4-4CC7-A41B-3C81F64F2089}" type="presParOf" srcId="{09EE70EC-E910-477C-9D35-DAD0172949F5}" destId="{EF13DE13-7C38-4213-A553-C1BAD411607F}" srcOrd="13" destOrd="0" presId="urn:microsoft.com/office/officeart/2008/layout/LinedList"/>
    <dgm:cxn modelId="{898BA89F-D50C-46EE-BC3C-998C49E0B61C}" type="presParOf" srcId="{EF13DE13-7C38-4213-A553-C1BAD411607F}" destId="{08EC1331-84A2-4CE7-AF1A-90258DF18F4E}" srcOrd="0" destOrd="0" presId="urn:microsoft.com/office/officeart/2008/layout/LinedList"/>
    <dgm:cxn modelId="{188A6988-7DFB-4C18-8450-3B60B4D4782C}" type="presParOf" srcId="{EF13DE13-7C38-4213-A553-C1BAD411607F}" destId="{C645E3B4-A495-4FD7-A9EA-37D15B4C3B8B}" srcOrd="1" destOrd="0" presId="urn:microsoft.com/office/officeart/2008/layout/LinedList"/>
    <dgm:cxn modelId="{CF720A1C-FAA9-47A1-A9B9-D494A4B47894}" type="presParOf" srcId="{EF13DE13-7C38-4213-A553-C1BAD411607F}" destId="{72377F6F-2D83-4B66-8E79-E7BC1D56BC48}" srcOrd="2" destOrd="0" presId="urn:microsoft.com/office/officeart/2008/layout/LinedList"/>
    <dgm:cxn modelId="{DE593E45-F483-4727-8A8C-50EF7277232C}" type="presParOf" srcId="{09EE70EC-E910-477C-9D35-DAD0172949F5}" destId="{80D7F060-D98E-4BC7-AD8D-6AA66DB30B0A}" srcOrd="14" destOrd="0" presId="urn:microsoft.com/office/officeart/2008/layout/LinedList"/>
    <dgm:cxn modelId="{6F906B52-7526-42DF-9A9D-3E432CF19813}" type="presParOf" srcId="{09EE70EC-E910-477C-9D35-DAD0172949F5}" destId="{C5849DDD-A61A-42EA-9C9F-B6232FDF8B97}" srcOrd="15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8DD7C9E-BA88-454C-9EC8-8B0AF71D1CD1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E78639B-9B20-4363-BCAC-7D13683E91C3}">
      <dgm:prSet/>
      <dgm:spPr/>
      <dgm:t>
        <a:bodyPr/>
        <a:lstStyle/>
        <a:p>
          <a:r>
            <a:rPr lang="en-US"/>
            <a:t>Coefficient Interpretation with Caution:</a:t>
          </a:r>
        </a:p>
      </dgm:t>
    </dgm:pt>
    <dgm:pt modelId="{850BB6C7-6947-4BF7-9FCF-C406BE7F8D74}" type="parTrans" cxnId="{591E4097-52ED-4BF9-A9A7-BB9519A71411}">
      <dgm:prSet/>
      <dgm:spPr/>
      <dgm:t>
        <a:bodyPr/>
        <a:lstStyle/>
        <a:p>
          <a:endParaRPr lang="en-US"/>
        </a:p>
      </dgm:t>
    </dgm:pt>
    <dgm:pt modelId="{1CB20292-694E-464B-9A9B-9C6120288FC3}" type="sibTrans" cxnId="{591E4097-52ED-4BF9-A9A7-BB9519A71411}">
      <dgm:prSet/>
      <dgm:spPr/>
      <dgm:t>
        <a:bodyPr/>
        <a:lstStyle/>
        <a:p>
          <a:endParaRPr lang="en-US"/>
        </a:p>
      </dgm:t>
    </dgm:pt>
    <dgm:pt modelId="{10D3AF65-B0CE-49D4-841C-12BA374FA370}">
      <dgm:prSet/>
      <dgm:spPr/>
      <dgm:t>
        <a:bodyPr/>
        <a:lstStyle/>
        <a:p>
          <a:r>
            <a:rPr lang="en-US"/>
            <a:t>Some regression coefficients were not intuitive</a:t>
          </a:r>
        </a:p>
      </dgm:t>
    </dgm:pt>
    <dgm:pt modelId="{CEF813C3-F0F3-4B26-B8FC-47F884350F6C}" type="parTrans" cxnId="{50BFF7F1-AA33-4569-995C-67C88628311C}">
      <dgm:prSet/>
      <dgm:spPr/>
      <dgm:t>
        <a:bodyPr/>
        <a:lstStyle/>
        <a:p>
          <a:endParaRPr lang="en-US"/>
        </a:p>
      </dgm:t>
    </dgm:pt>
    <dgm:pt modelId="{C25F35BC-35CC-4880-B447-5F6A5588A9D5}" type="sibTrans" cxnId="{50BFF7F1-AA33-4569-995C-67C88628311C}">
      <dgm:prSet/>
      <dgm:spPr/>
      <dgm:t>
        <a:bodyPr/>
        <a:lstStyle/>
        <a:p>
          <a:endParaRPr lang="en-US"/>
        </a:p>
      </dgm:t>
    </dgm:pt>
    <dgm:pt modelId="{76FB26D2-0914-4D52-BE3B-744F809E2473}">
      <dgm:prSet/>
      <dgm:spPr/>
      <dgm:t>
        <a:bodyPr/>
        <a:lstStyle/>
        <a:p>
          <a:r>
            <a:rPr lang="en-US"/>
            <a:t>This is expected because calories, protein, carbohydrates, and fat are strongly related to each other.</a:t>
          </a:r>
        </a:p>
      </dgm:t>
    </dgm:pt>
    <dgm:pt modelId="{FE9C4FBB-F408-464E-AFCF-F11979281A5B}" type="parTrans" cxnId="{851301E4-02A5-440B-9DEA-42A251A16E5D}">
      <dgm:prSet/>
      <dgm:spPr/>
      <dgm:t>
        <a:bodyPr/>
        <a:lstStyle/>
        <a:p>
          <a:endParaRPr lang="en-US"/>
        </a:p>
      </dgm:t>
    </dgm:pt>
    <dgm:pt modelId="{3F25732D-DD7D-42B6-96C9-2A8C0D00BE5B}" type="sibTrans" cxnId="{851301E4-02A5-440B-9DEA-42A251A16E5D}">
      <dgm:prSet/>
      <dgm:spPr/>
      <dgm:t>
        <a:bodyPr/>
        <a:lstStyle/>
        <a:p>
          <a:endParaRPr lang="en-US"/>
        </a:p>
      </dgm:t>
    </dgm:pt>
    <dgm:pt modelId="{E1CCE7E1-67A6-4CC1-B983-38AFB1B8EE09}">
      <dgm:prSet/>
      <dgm:spPr/>
      <dgm:t>
        <a:bodyPr/>
        <a:lstStyle/>
        <a:p>
          <a:r>
            <a:rPr lang="en-US"/>
            <a:t>This creates multicollinearity</a:t>
          </a:r>
        </a:p>
      </dgm:t>
    </dgm:pt>
    <dgm:pt modelId="{7E2548BA-8035-4A1D-AF9B-7D16887A8CBA}" type="parTrans" cxnId="{0FD819E5-E0F2-4AF3-AD41-C1155B2C6254}">
      <dgm:prSet/>
      <dgm:spPr/>
      <dgm:t>
        <a:bodyPr/>
        <a:lstStyle/>
        <a:p>
          <a:endParaRPr lang="en-US"/>
        </a:p>
      </dgm:t>
    </dgm:pt>
    <dgm:pt modelId="{DCE1D690-227F-40BD-864F-BBDC96244321}" type="sibTrans" cxnId="{0FD819E5-E0F2-4AF3-AD41-C1155B2C6254}">
      <dgm:prSet/>
      <dgm:spPr/>
      <dgm:t>
        <a:bodyPr/>
        <a:lstStyle/>
        <a:p>
          <a:endParaRPr lang="en-US"/>
        </a:p>
      </dgm:t>
    </dgm:pt>
    <dgm:pt modelId="{F3ED51CE-E848-4C86-ADE7-E95A4FE17C7F}">
      <dgm:prSet/>
      <dgm:spPr/>
      <dgm:t>
        <a:bodyPr/>
        <a:lstStyle/>
        <a:p>
          <a:r>
            <a:rPr lang="en-US"/>
            <a:t>Multicollinearity makes it difficult to isolate the effect of each dietary variable.</a:t>
          </a:r>
        </a:p>
      </dgm:t>
    </dgm:pt>
    <dgm:pt modelId="{A2B885F1-E1AD-4CB1-AD1E-8381736FF60A}" type="parTrans" cxnId="{A60BBBC4-CD87-4680-B30E-0CEAFB504459}">
      <dgm:prSet/>
      <dgm:spPr/>
      <dgm:t>
        <a:bodyPr/>
        <a:lstStyle/>
        <a:p>
          <a:endParaRPr lang="en-US"/>
        </a:p>
      </dgm:t>
    </dgm:pt>
    <dgm:pt modelId="{66DE58F9-352C-48DA-BD79-54C4EAE1EDE1}" type="sibTrans" cxnId="{A60BBBC4-CD87-4680-B30E-0CEAFB504459}">
      <dgm:prSet/>
      <dgm:spPr/>
      <dgm:t>
        <a:bodyPr/>
        <a:lstStyle/>
        <a:p>
          <a:endParaRPr lang="en-US"/>
        </a:p>
      </dgm:t>
    </dgm:pt>
    <dgm:pt modelId="{581A5D6A-2851-4CBD-A649-3F5443112371}">
      <dgm:prSet/>
      <dgm:spPr/>
      <dgm:t>
        <a:bodyPr/>
        <a:lstStyle/>
        <a:p>
          <a:r>
            <a:rPr lang="en-US"/>
            <a:t>Interpretation apporach:</a:t>
          </a:r>
        </a:p>
      </dgm:t>
    </dgm:pt>
    <dgm:pt modelId="{DB07ED69-7ED1-450B-81F5-96D3C8CF5BA5}" type="parTrans" cxnId="{24793FC1-1DF8-43AD-A058-E6819A49B31D}">
      <dgm:prSet/>
      <dgm:spPr/>
      <dgm:t>
        <a:bodyPr/>
        <a:lstStyle/>
        <a:p>
          <a:endParaRPr lang="en-US"/>
        </a:p>
      </dgm:t>
    </dgm:pt>
    <dgm:pt modelId="{85802BA9-8AAB-4975-A572-15389FE2A62A}" type="sibTrans" cxnId="{24793FC1-1DF8-43AD-A058-E6819A49B31D}">
      <dgm:prSet/>
      <dgm:spPr/>
      <dgm:t>
        <a:bodyPr/>
        <a:lstStyle/>
        <a:p>
          <a:endParaRPr lang="en-US"/>
        </a:p>
      </dgm:t>
    </dgm:pt>
    <dgm:pt modelId="{5868BE97-A7A6-4FA2-997A-9395894CF591}">
      <dgm:prSet/>
      <dgm:spPr/>
      <dgm:t>
        <a:bodyPr/>
        <a:lstStyle/>
        <a:p>
          <a:r>
            <a:rPr lang="en-US"/>
            <a:t>I focused on the overall pattern of results rather than overemphasizing any single dietary coefficient.</a:t>
          </a:r>
        </a:p>
      </dgm:t>
    </dgm:pt>
    <dgm:pt modelId="{109568C0-8E74-4C85-9A41-DC1C3308C8A0}" type="parTrans" cxnId="{C343CDB6-903B-443A-8D94-7C31B9B963E7}">
      <dgm:prSet/>
      <dgm:spPr/>
      <dgm:t>
        <a:bodyPr/>
        <a:lstStyle/>
        <a:p>
          <a:endParaRPr lang="en-US"/>
        </a:p>
      </dgm:t>
    </dgm:pt>
    <dgm:pt modelId="{6A51628C-B7FD-4BA4-B102-C06A5C70C201}" type="sibTrans" cxnId="{C343CDB6-903B-443A-8D94-7C31B9B963E7}">
      <dgm:prSet/>
      <dgm:spPr/>
      <dgm:t>
        <a:bodyPr/>
        <a:lstStyle/>
        <a:p>
          <a:endParaRPr lang="en-US"/>
        </a:p>
      </dgm:t>
    </dgm:pt>
    <dgm:pt modelId="{942EB7F4-E123-4736-9CD5-C1FFAD95E870}">
      <dgm:prSet/>
      <dgm:spPr/>
      <dgm:t>
        <a:bodyPr/>
        <a:lstStyle/>
        <a:p>
          <a:r>
            <a:rPr lang="en-US"/>
            <a:t>The coefficients should be interpreted cautiously.</a:t>
          </a:r>
        </a:p>
      </dgm:t>
    </dgm:pt>
    <dgm:pt modelId="{364FC275-84AE-4145-BEC5-C623292E6933}" type="parTrans" cxnId="{343B7702-7CB6-4BD2-AE59-668CE5463C41}">
      <dgm:prSet/>
      <dgm:spPr/>
      <dgm:t>
        <a:bodyPr/>
        <a:lstStyle/>
        <a:p>
          <a:endParaRPr lang="en-US"/>
        </a:p>
      </dgm:t>
    </dgm:pt>
    <dgm:pt modelId="{248E6F05-EBB6-4CB8-9D53-BD9A91248171}" type="sibTrans" cxnId="{343B7702-7CB6-4BD2-AE59-668CE5463C41}">
      <dgm:prSet/>
      <dgm:spPr/>
      <dgm:t>
        <a:bodyPr/>
        <a:lstStyle/>
        <a:p>
          <a:endParaRPr lang="en-US"/>
        </a:p>
      </dgm:t>
    </dgm:pt>
    <dgm:pt modelId="{CCB6A2A5-D389-4474-8F99-0B5F5F365DC6}" type="pres">
      <dgm:prSet presAssocID="{28DD7C9E-BA88-454C-9EC8-8B0AF71D1CD1}" presName="Name0" presStyleCnt="0">
        <dgm:presLayoutVars>
          <dgm:dir/>
          <dgm:resizeHandles val="exact"/>
        </dgm:presLayoutVars>
      </dgm:prSet>
      <dgm:spPr/>
    </dgm:pt>
    <dgm:pt modelId="{27E6A8EF-A617-4722-AC03-7AE9D774B5D5}" type="pres">
      <dgm:prSet presAssocID="{FE78639B-9B20-4363-BCAC-7D13683E91C3}" presName="node" presStyleLbl="node1" presStyleIdx="0" presStyleCnt="2">
        <dgm:presLayoutVars>
          <dgm:bulletEnabled val="1"/>
        </dgm:presLayoutVars>
      </dgm:prSet>
      <dgm:spPr/>
    </dgm:pt>
    <dgm:pt modelId="{FD9290AE-D001-49F3-8791-A003D8909FB7}" type="pres">
      <dgm:prSet presAssocID="{1CB20292-694E-464B-9A9B-9C6120288FC3}" presName="sibTrans" presStyleLbl="sibTrans1D1" presStyleIdx="0" presStyleCnt="1"/>
      <dgm:spPr/>
    </dgm:pt>
    <dgm:pt modelId="{B26AE7CC-13E8-4D7F-AD7A-2ABC39E31C31}" type="pres">
      <dgm:prSet presAssocID="{1CB20292-694E-464B-9A9B-9C6120288FC3}" presName="connectorText" presStyleLbl="sibTrans1D1" presStyleIdx="0" presStyleCnt="1"/>
      <dgm:spPr/>
    </dgm:pt>
    <dgm:pt modelId="{6DE7AE89-4A00-4FD0-9727-3CA841B8DF62}" type="pres">
      <dgm:prSet presAssocID="{581A5D6A-2851-4CBD-A649-3F5443112371}" presName="node" presStyleLbl="node1" presStyleIdx="1" presStyleCnt="2">
        <dgm:presLayoutVars>
          <dgm:bulletEnabled val="1"/>
        </dgm:presLayoutVars>
      </dgm:prSet>
      <dgm:spPr/>
    </dgm:pt>
  </dgm:ptLst>
  <dgm:cxnLst>
    <dgm:cxn modelId="{343B7702-7CB6-4BD2-AE59-668CE5463C41}" srcId="{581A5D6A-2851-4CBD-A649-3F5443112371}" destId="{942EB7F4-E123-4736-9CD5-C1FFAD95E870}" srcOrd="1" destOrd="0" parTransId="{364FC275-84AE-4145-BEC5-C623292E6933}" sibTransId="{248E6F05-EBB6-4CB8-9D53-BD9A91248171}"/>
    <dgm:cxn modelId="{74924C04-072E-481A-B13C-7101A50E9A59}" type="presOf" srcId="{10D3AF65-B0CE-49D4-841C-12BA374FA370}" destId="{27E6A8EF-A617-4722-AC03-7AE9D774B5D5}" srcOrd="0" destOrd="1" presId="urn:microsoft.com/office/officeart/2016/7/layout/RepeatingBendingProcessNew"/>
    <dgm:cxn modelId="{E15D0955-490A-4288-96DD-5B3AD3F15697}" type="presOf" srcId="{FE78639B-9B20-4363-BCAC-7D13683E91C3}" destId="{27E6A8EF-A617-4722-AC03-7AE9D774B5D5}" srcOrd="0" destOrd="0" presId="urn:microsoft.com/office/officeart/2016/7/layout/RepeatingBendingProcessNew"/>
    <dgm:cxn modelId="{1BB02157-C85B-4F9B-8106-4D7E98A31CA0}" type="presOf" srcId="{1CB20292-694E-464B-9A9B-9C6120288FC3}" destId="{FD9290AE-D001-49F3-8791-A003D8909FB7}" srcOrd="0" destOrd="0" presId="urn:microsoft.com/office/officeart/2016/7/layout/RepeatingBendingProcessNew"/>
    <dgm:cxn modelId="{591E4097-52ED-4BF9-A9A7-BB9519A71411}" srcId="{28DD7C9E-BA88-454C-9EC8-8B0AF71D1CD1}" destId="{FE78639B-9B20-4363-BCAC-7D13683E91C3}" srcOrd="0" destOrd="0" parTransId="{850BB6C7-6947-4BF7-9FCF-C406BE7F8D74}" sibTransId="{1CB20292-694E-464B-9A9B-9C6120288FC3}"/>
    <dgm:cxn modelId="{CA6CABAC-5315-4400-8BBA-A39C7929F049}" type="presOf" srcId="{E1CCE7E1-67A6-4CC1-B983-38AFB1B8EE09}" destId="{27E6A8EF-A617-4722-AC03-7AE9D774B5D5}" srcOrd="0" destOrd="3" presId="urn:microsoft.com/office/officeart/2016/7/layout/RepeatingBendingProcessNew"/>
    <dgm:cxn modelId="{B16C3FAD-AFF8-4604-AA0A-A9B1A7DB7A5D}" type="presOf" srcId="{F3ED51CE-E848-4C86-ADE7-E95A4FE17C7F}" destId="{27E6A8EF-A617-4722-AC03-7AE9D774B5D5}" srcOrd="0" destOrd="4" presId="urn:microsoft.com/office/officeart/2016/7/layout/RepeatingBendingProcessNew"/>
    <dgm:cxn modelId="{C343CDB6-903B-443A-8D94-7C31B9B963E7}" srcId="{581A5D6A-2851-4CBD-A649-3F5443112371}" destId="{5868BE97-A7A6-4FA2-997A-9395894CF591}" srcOrd="0" destOrd="0" parTransId="{109568C0-8E74-4C85-9A41-DC1C3308C8A0}" sibTransId="{6A51628C-B7FD-4BA4-B102-C06A5C70C201}"/>
    <dgm:cxn modelId="{0A9523BF-FD03-4BD2-9683-B9D17EE55E7F}" type="presOf" srcId="{942EB7F4-E123-4736-9CD5-C1FFAD95E870}" destId="{6DE7AE89-4A00-4FD0-9727-3CA841B8DF62}" srcOrd="0" destOrd="2" presId="urn:microsoft.com/office/officeart/2016/7/layout/RepeatingBendingProcessNew"/>
    <dgm:cxn modelId="{24793FC1-1DF8-43AD-A058-E6819A49B31D}" srcId="{28DD7C9E-BA88-454C-9EC8-8B0AF71D1CD1}" destId="{581A5D6A-2851-4CBD-A649-3F5443112371}" srcOrd="1" destOrd="0" parTransId="{DB07ED69-7ED1-450B-81F5-96D3C8CF5BA5}" sibTransId="{85802BA9-8AAB-4975-A572-15389FE2A62A}"/>
    <dgm:cxn modelId="{A60BBBC4-CD87-4680-B30E-0CEAFB504459}" srcId="{FE78639B-9B20-4363-BCAC-7D13683E91C3}" destId="{F3ED51CE-E848-4C86-ADE7-E95A4FE17C7F}" srcOrd="3" destOrd="0" parTransId="{A2B885F1-E1AD-4CB1-AD1E-8381736FF60A}" sibTransId="{66DE58F9-352C-48DA-BD79-54C4EAE1EDE1}"/>
    <dgm:cxn modelId="{A083D3C8-8810-448E-ABBE-717C420803F4}" type="presOf" srcId="{76FB26D2-0914-4D52-BE3B-744F809E2473}" destId="{27E6A8EF-A617-4722-AC03-7AE9D774B5D5}" srcOrd="0" destOrd="2" presId="urn:microsoft.com/office/officeart/2016/7/layout/RepeatingBendingProcessNew"/>
    <dgm:cxn modelId="{02B18DCB-37F2-4FE0-9A9C-6BABA65B0239}" type="presOf" srcId="{5868BE97-A7A6-4FA2-997A-9395894CF591}" destId="{6DE7AE89-4A00-4FD0-9727-3CA841B8DF62}" srcOrd="0" destOrd="1" presId="urn:microsoft.com/office/officeart/2016/7/layout/RepeatingBendingProcessNew"/>
    <dgm:cxn modelId="{9EDD4BD1-F622-4F40-949B-8FA13F53B776}" type="presOf" srcId="{28DD7C9E-BA88-454C-9EC8-8B0AF71D1CD1}" destId="{CCB6A2A5-D389-4474-8F99-0B5F5F365DC6}" srcOrd="0" destOrd="0" presId="urn:microsoft.com/office/officeart/2016/7/layout/RepeatingBendingProcessNew"/>
    <dgm:cxn modelId="{D6DD08DC-6C87-40BF-B625-0BFCDD24E2A5}" type="presOf" srcId="{581A5D6A-2851-4CBD-A649-3F5443112371}" destId="{6DE7AE89-4A00-4FD0-9727-3CA841B8DF62}" srcOrd="0" destOrd="0" presId="urn:microsoft.com/office/officeart/2016/7/layout/RepeatingBendingProcessNew"/>
    <dgm:cxn modelId="{851301E4-02A5-440B-9DEA-42A251A16E5D}" srcId="{FE78639B-9B20-4363-BCAC-7D13683E91C3}" destId="{76FB26D2-0914-4D52-BE3B-744F809E2473}" srcOrd="1" destOrd="0" parTransId="{FE9C4FBB-F408-464E-AFCF-F11979281A5B}" sibTransId="{3F25732D-DD7D-42B6-96C9-2A8C0D00BE5B}"/>
    <dgm:cxn modelId="{0FD819E5-E0F2-4AF3-AD41-C1155B2C6254}" srcId="{FE78639B-9B20-4363-BCAC-7D13683E91C3}" destId="{E1CCE7E1-67A6-4CC1-B983-38AFB1B8EE09}" srcOrd="2" destOrd="0" parTransId="{7E2548BA-8035-4A1D-AF9B-7D16887A8CBA}" sibTransId="{DCE1D690-227F-40BD-864F-BBDC96244321}"/>
    <dgm:cxn modelId="{50BFF7F1-AA33-4569-995C-67C88628311C}" srcId="{FE78639B-9B20-4363-BCAC-7D13683E91C3}" destId="{10D3AF65-B0CE-49D4-841C-12BA374FA370}" srcOrd="0" destOrd="0" parTransId="{CEF813C3-F0F3-4B26-B8FC-47F884350F6C}" sibTransId="{C25F35BC-35CC-4880-B447-5F6A5588A9D5}"/>
    <dgm:cxn modelId="{AE00BCF4-93DF-41E2-AEC7-1388E17A6498}" type="presOf" srcId="{1CB20292-694E-464B-9A9B-9C6120288FC3}" destId="{B26AE7CC-13E8-4D7F-AD7A-2ABC39E31C31}" srcOrd="1" destOrd="0" presId="urn:microsoft.com/office/officeart/2016/7/layout/RepeatingBendingProcessNew"/>
    <dgm:cxn modelId="{7667FBB4-9FD1-46EC-9B41-53DCB1950F37}" type="presParOf" srcId="{CCB6A2A5-D389-4474-8F99-0B5F5F365DC6}" destId="{27E6A8EF-A617-4722-AC03-7AE9D774B5D5}" srcOrd="0" destOrd="0" presId="urn:microsoft.com/office/officeart/2016/7/layout/RepeatingBendingProcessNew"/>
    <dgm:cxn modelId="{97C20514-2560-4AD0-B618-28280A8EFBF5}" type="presParOf" srcId="{CCB6A2A5-D389-4474-8F99-0B5F5F365DC6}" destId="{FD9290AE-D001-49F3-8791-A003D8909FB7}" srcOrd="1" destOrd="0" presId="urn:microsoft.com/office/officeart/2016/7/layout/RepeatingBendingProcessNew"/>
    <dgm:cxn modelId="{03E01725-B40C-43F4-B6D8-292A245256B4}" type="presParOf" srcId="{FD9290AE-D001-49F3-8791-A003D8909FB7}" destId="{B26AE7CC-13E8-4D7F-AD7A-2ABC39E31C31}" srcOrd="0" destOrd="0" presId="urn:microsoft.com/office/officeart/2016/7/layout/RepeatingBendingProcessNew"/>
    <dgm:cxn modelId="{C608EC16-1743-451D-8C89-1F6ACCFED3E3}" type="presParOf" srcId="{CCB6A2A5-D389-4474-8F99-0B5F5F365DC6}" destId="{6DE7AE89-4A00-4FD0-9727-3CA841B8DF62}" srcOrd="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502940-3073-4E98-9950-EA2EBF83EDAC}">
      <dsp:nvSpPr>
        <dsp:cNvPr id="0" name=""/>
        <dsp:cNvSpPr/>
      </dsp:nvSpPr>
      <dsp:spPr>
        <a:xfrm>
          <a:off x="0" y="0"/>
          <a:ext cx="6496050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05B807D-14B4-45B2-831B-40C830657FDB}">
      <dsp:nvSpPr>
        <dsp:cNvPr id="0" name=""/>
        <dsp:cNvSpPr/>
      </dsp:nvSpPr>
      <dsp:spPr>
        <a:xfrm>
          <a:off x="0" y="0"/>
          <a:ext cx="1299209" cy="457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/>
            <a:t>The data cleaning and preparation process:</a:t>
          </a:r>
          <a:endParaRPr lang="en-US" sz="1600" kern="1200"/>
        </a:p>
      </dsp:txBody>
      <dsp:txXfrm>
        <a:off x="0" y="0"/>
        <a:ext cx="1299209" cy="4572000"/>
      </dsp:txXfrm>
    </dsp:sp>
    <dsp:sp modelId="{344ABC22-1276-497D-94C0-293FF45D20A3}">
      <dsp:nvSpPr>
        <dsp:cNvPr id="0" name=""/>
        <dsp:cNvSpPr/>
      </dsp:nvSpPr>
      <dsp:spPr>
        <a:xfrm>
          <a:off x="1396650" y="43085"/>
          <a:ext cx="5099399" cy="861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/>
            <a:t>Selected only the variables relevant to the research question.</a:t>
          </a:r>
          <a:endParaRPr lang="en-US" sz="2300" kern="1200"/>
        </a:p>
      </dsp:txBody>
      <dsp:txXfrm>
        <a:off x="1396650" y="43085"/>
        <a:ext cx="5099399" cy="861714"/>
      </dsp:txXfrm>
    </dsp:sp>
    <dsp:sp modelId="{B692E934-EA3A-4BE7-9308-F933EA125C2C}">
      <dsp:nvSpPr>
        <dsp:cNvPr id="0" name=""/>
        <dsp:cNvSpPr/>
      </dsp:nvSpPr>
      <dsp:spPr>
        <a:xfrm>
          <a:off x="1299209" y="904800"/>
          <a:ext cx="5196839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A63AC9B3-1C3C-43F3-8C5B-88B23DEC5C0C}">
      <dsp:nvSpPr>
        <dsp:cNvPr id="0" name=""/>
        <dsp:cNvSpPr/>
      </dsp:nvSpPr>
      <dsp:spPr>
        <a:xfrm>
          <a:off x="1396650" y="947886"/>
          <a:ext cx="5099399" cy="861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/>
            <a:t>Merged Nhanes files using SEQN.</a:t>
          </a:r>
          <a:endParaRPr lang="en-US" sz="2300" kern="1200"/>
        </a:p>
      </dsp:txBody>
      <dsp:txXfrm>
        <a:off x="1396650" y="947886"/>
        <a:ext cx="5099399" cy="861714"/>
      </dsp:txXfrm>
    </dsp:sp>
    <dsp:sp modelId="{7FDC7A92-9DD3-4707-9F1C-B8C4FB7E8337}">
      <dsp:nvSpPr>
        <dsp:cNvPr id="0" name=""/>
        <dsp:cNvSpPr/>
      </dsp:nvSpPr>
      <dsp:spPr>
        <a:xfrm>
          <a:off x="1299209" y="1809601"/>
          <a:ext cx="5196839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A7FEB6C5-AA98-443B-ACEF-7C35AC114DF0}">
      <dsp:nvSpPr>
        <dsp:cNvPr id="0" name=""/>
        <dsp:cNvSpPr/>
      </dsp:nvSpPr>
      <dsp:spPr>
        <a:xfrm>
          <a:off x="1396650" y="1852686"/>
          <a:ext cx="5099399" cy="861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/>
            <a:t>Restricted the sample to adults age 18 and older.</a:t>
          </a:r>
          <a:endParaRPr lang="en-US" sz="2300" kern="1200"/>
        </a:p>
      </dsp:txBody>
      <dsp:txXfrm>
        <a:off x="1396650" y="1852686"/>
        <a:ext cx="5099399" cy="861714"/>
      </dsp:txXfrm>
    </dsp:sp>
    <dsp:sp modelId="{4656DE82-3826-4387-A366-3CEA9ADA5AC3}">
      <dsp:nvSpPr>
        <dsp:cNvPr id="0" name=""/>
        <dsp:cNvSpPr/>
      </dsp:nvSpPr>
      <dsp:spPr>
        <a:xfrm>
          <a:off x="1299209" y="2714401"/>
          <a:ext cx="5196839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FF62C9C-E4EB-44C8-AE45-10A4824E425B}">
      <dsp:nvSpPr>
        <dsp:cNvPr id="0" name=""/>
        <dsp:cNvSpPr/>
      </dsp:nvSpPr>
      <dsp:spPr>
        <a:xfrm>
          <a:off x="1396650" y="2757487"/>
          <a:ext cx="5099399" cy="861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/>
            <a:t>Removed missing values in key varables</a:t>
          </a:r>
          <a:endParaRPr lang="en-US" sz="2300" kern="1200"/>
        </a:p>
      </dsp:txBody>
      <dsp:txXfrm>
        <a:off x="1396650" y="2757487"/>
        <a:ext cx="5099399" cy="861714"/>
      </dsp:txXfrm>
    </dsp:sp>
    <dsp:sp modelId="{B709E790-1AE8-484D-A7CB-D74AF828BBB2}">
      <dsp:nvSpPr>
        <dsp:cNvPr id="0" name=""/>
        <dsp:cNvSpPr/>
      </dsp:nvSpPr>
      <dsp:spPr>
        <a:xfrm>
          <a:off x="1299209" y="3619202"/>
          <a:ext cx="5196839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645E3B4-A495-4FD7-A9EA-37D15B4C3B8B}">
      <dsp:nvSpPr>
        <dsp:cNvPr id="0" name=""/>
        <dsp:cNvSpPr/>
      </dsp:nvSpPr>
      <dsp:spPr>
        <a:xfrm>
          <a:off x="1396650" y="3662288"/>
          <a:ext cx="5099399" cy="861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/>
            <a:t>Created activity groups for the t-test and regression model</a:t>
          </a:r>
          <a:endParaRPr lang="en-US" sz="2300" kern="1200"/>
        </a:p>
      </dsp:txBody>
      <dsp:txXfrm>
        <a:off x="1396650" y="3662288"/>
        <a:ext cx="5099399" cy="861714"/>
      </dsp:txXfrm>
    </dsp:sp>
    <dsp:sp modelId="{80D7F060-D98E-4BC7-AD8D-6AA66DB30B0A}">
      <dsp:nvSpPr>
        <dsp:cNvPr id="0" name=""/>
        <dsp:cNvSpPr/>
      </dsp:nvSpPr>
      <dsp:spPr>
        <a:xfrm>
          <a:off x="1299209" y="4524002"/>
          <a:ext cx="5196839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9290AE-D001-49F3-8791-A003D8909FB7}">
      <dsp:nvSpPr>
        <dsp:cNvPr id="0" name=""/>
        <dsp:cNvSpPr/>
      </dsp:nvSpPr>
      <dsp:spPr>
        <a:xfrm>
          <a:off x="4643948" y="1523940"/>
          <a:ext cx="103742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037421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135958" y="1564320"/>
        <a:ext cx="53401" cy="10680"/>
      </dsp:txXfrm>
    </dsp:sp>
    <dsp:sp modelId="{27E6A8EF-A617-4722-AC03-7AE9D774B5D5}">
      <dsp:nvSpPr>
        <dsp:cNvPr id="0" name=""/>
        <dsp:cNvSpPr/>
      </dsp:nvSpPr>
      <dsp:spPr>
        <a:xfrm>
          <a:off x="2175" y="176588"/>
          <a:ext cx="4643573" cy="2786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39" tIns="238842" rIns="227539" bIns="238842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Coefficient Interpretation with Caution: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Some regression coefficients were not intuitive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This is expected because calories, protein, carbohydrates, and fat are strongly related to each other.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This creates multicollinearity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Multicollinearity makes it difficult to isolate the effect of each dietary variable.</a:t>
          </a:r>
        </a:p>
      </dsp:txBody>
      <dsp:txXfrm>
        <a:off x="2175" y="176588"/>
        <a:ext cx="4643573" cy="2786144"/>
      </dsp:txXfrm>
    </dsp:sp>
    <dsp:sp modelId="{6DE7AE89-4A00-4FD0-9727-3CA841B8DF62}">
      <dsp:nvSpPr>
        <dsp:cNvPr id="0" name=""/>
        <dsp:cNvSpPr/>
      </dsp:nvSpPr>
      <dsp:spPr>
        <a:xfrm>
          <a:off x="5713770" y="176588"/>
          <a:ext cx="4643573" cy="2786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39" tIns="238842" rIns="227539" bIns="238842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Interpretation apporach: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I focused on the overall pattern of results rather than overemphasizing any single dietary coefficient.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The coefficients should be interpreted cautiously.</a:t>
          </a:r>
        </a:p>
      </dsp:txBody>
      <dsp:txXfrm>
        <a:off x="5713770" y="176588"/>
        <a:ext cx="4643573" cy="27861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4/19/2026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072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282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104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215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268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240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26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731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258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41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976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502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67181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8130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1522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9413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5479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7656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4/19/2026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8655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4/19/2026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195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4/19/2026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5891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4/19/2026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535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4/19/2026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5890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4/19/2026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74321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4/19/2026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719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4/19/2026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216366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4/19/2026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5990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4/19/2026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1657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449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  <p:sldLayoutId id="2147483909" r:id="rId12"/>
    <p:sldLayoutId id="2147483910" r:id="rId13"/>
    <p:sldLayoutId id="2147483911" r:id="rId14"/>
    <p:sldLayoutId id="2147483912" r:id="rId15"/>
    <p:sldLayoutId id="2147483913" r:id="rId16"/>
    <p:sldLayoutId id="2147483914" r:id="rId17"/>
    <p:sldLayoutId id="2147483915" r:id="rId18"/>
    <p:sldLayoutId id="2147483916" r:id="rId19"/>
    <p:sldLayoutId id="2147483917" r:id="rId20"/>
    <p:sldLayoutId id="2147483918" r:id="rId21"/>
    <p:sldLayoutId id="2147483919" r:id="rId22"/>
    <p:sldLayoutId id="2147483920" r:id="rId23"/>
    <p:sldLayoutId id="2147483921" r:id="rId24"/>
    <p:sldLayoutId id="2147483922" r:id="rId25"/>
    <p:sldLayoutId id="2147483923" r:id="rId26"/>
    <p:sldLayoutId id="2147483924" r:id="rId2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3.png"/><Relationship Id="rId7" Type="http://schemas.openxmlformats.org/officeDocument/2006/relationships/diagramLayout" Target="../diagrams/layou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1.xml"/><Relationship Id="rId6" Type="http://schemas.openxmlformats.org/officeDocument/2006/relationships/diagramData" Target="../diagrams/data1.xml"/><Relationship Id="rId5" Type="http://schemas.openxmlformats.org/officeDocument/2006/relationships/image" Target="../media/image5.png"/><Relationship Id="rId10" Type="http://schemas.microsoft.com/office/2007/relationships/diagramDrawing" Target="../diagrams/drawing1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38E9-D21E-DE68-38AC-F56AEA15B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sz="2000"/>
              <a:t>Physical activity,  nutrition, AND BMI 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4D864-A6BD-C75F-9B88-BAB58775ABD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Presented by: </a:t>
            </a:r>
            <a:r>
              <a:rPr lang="en-US" dirty="0" err="1"/>
              <a:t>Seleiye</a:t>
            </a:r>
            <a:r>
              <a:rPr lang="en-US" dirty="0"/>
              <a:t> Tiemo</a:t>
            </a:r>
          </a:p>
          <a:p>
            <a:r>
              <a:rPr lang="en-US"/>
              <a:t>Course Name: DASC  4850</a:t>
            </a:r>
          </a:p>
          <a:p>
            <a:r>
              <a:rPr lang="en-US"/>
              <a:t>Professor Name: Jason Satel</a:t>
            </a:r>
          </a:p>
          <a:p>
            <a:r>
              <a:rPr lang="en-US"/>
              <a:t>Date: 4/19/2026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B60C5C2-A596-7FEB-7260-D4D75F7F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 lvl="0">
              <a:spcAft>
                <a:spcPts val="600"/>
              </a:spcAft>
            </a:pPr>
            <a:fld id="{A2C196D7-201A-4A3A-B9FA-EDBCED2083FF}" type="datetime1">
              <a:rPr lang="en-US" noProof="0" smtClean="0"/>
              <a:pPr lvl="0">
                <a:spcAft>
                  <a:spcPts val="600"/>
                </a:spcAft>
              </a:pPr>
              <a:t>4/19/2026</a:t>
            </a:fld>
            <a:endParaRPr lang="en-US" noProof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93C2242-EDFC-CC39-97DF-2DB1D8D58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>
            <a:normAutofit/>
          </a:bodyPr>
          <a:lstStyle/>
          <a:p>
            <a:pPr lvl="0">
              <a:spcAft>
                <a:spcPts val="600"/>
              </a:spcAft>
            </a:pPr>
            <a:r>
              <a:rPr lang="en-US" noProof="0" dirty="0"/>
              <a:t>Sample Footer Text</a:t>
            </a:r>
            <a:endParaRPr lang="en-US" noProof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247F861-42CF-FE05-F8FD-7EBB0D76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 lvl="0">
              <a:spcAft>
                <a:spcPts val="600"/>
              </a:spcAft>
            </a:pPr>
            <a:fld id="{84C450F2-3BB4-4AE4-8A35-A9D7AEA4C850}" type="slidenum">
              <a:rPr lang="en-US" noProof="0" smtClean="0"/>
              <a:pPr lvl="0">
                <a:spcAft>
                  <a:spcPts val="600"/>
                </a:spcAft>
              </a:pPr>
              <a:t>1</a:t>
            </a:fld>
            <a:endParaRPr lang="en-US" noProof="0"/>
          </a:p>
        </p:txBody>
      </p:sp>
      <p:pic>
        <p:nvPicPr>
          <p:cNvPr id="15" name="Picture 14" descr="Kettlebells on the floor">
            <a:extLst>
              <a:ext uri="{FF2B5EF4-FFF2-40B4-BE49-F238E27FC236}">
                <a16:creationId xmlns:a16="http://schemas.microsoft.com/office/drawing/2014/main" id="{709E736E-5F7F-7EF2-7E0C-D062B5A37A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444"/>
          <a:stretch>
            <a:fillRect/>
          </a:stretch>
        </p:blipFill>
        <p:spPr>
          <a:xfrm>
            <a:off x="20" y="10"/>
            <a:ext cx="7734280" cy="639914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55C6-1E2E-E4BD-2E9F-B3321C22A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/>
              <a:t>Initial thoughts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04E6-B771-F1FA-85F4-B7984DE55A8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/>
              <a:t>After reading the project requirements, I received a rush of ideas for the project. I thought about whether or not fat loss and muscle gain can happen at the same time, and how to measure that over a period of time. I couldn't find datasets because most of them were behind paywalls. I decided to develop something easier to find data on, so I am going to examine the relationship between physical activity, BMI, and nutrition.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602D5-209F-C183-95CC-735D34DC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90712A-E8AC-4933-9DE4-16CA7BD51374}" type="datetime1">
              <a:rPr lang="en-US" smtClean="0"/>
              <a:pPr>
                <a:spcAft>
                  <a:spcPts val="600"/>
                </a:spcAft>
              </a:pPr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8326A-C836-F80E-4EAB-FB475085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DC894-A40D-FD0D-CF41-FEE5AF09B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pic>
        <p:nvPicPr>
          <p:cNvPr id="8" name="Picture 7" descr="Weights and workout gear">
            <a:extLst>
              <a:ext uri="{FF2B5EF4-FFF2-40B4-BE49-F238E27FC236}">
                <a16:creationId xmlns:a16="http://schemas.microsoft.com/office/drawing/2014/main" id="{EAB3E4D0-8468-8A69-208D-2137AE7845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606" r="15459"/>
          <a:stretch>
            <a:fillRect/>
          </a:stretch>
        </p:blipFill>
        <p:spPr>
          <a:xfrm>
            <a:off x="20" y="10"/>
            <a:ext cx="7002444" cy="639914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144A5-0283-F980-85F3-EE51746FC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Research questions</a:t>
            </a:r>
            <a:endParaRPr lang="en-US" dirty="0"/>
          </a:p>
        </p:txBody>
      </p:sp>
      <p:pic>
        <p:nvPicPr>
          <p:cNvPr id="6" name="Picture Placeholder 5" descr="Two people running on a beach">
            <a:extLst>
              <a:ext uri="{FF2B5EF4-FFF2-40B4-BE49-F238E27FC236}">
                <a16:creationId xmlns:a16="http://schemas.microsoft.com/office/drawing/2014/main" id="{F89F5A20-EE3C-FB44-E2F2-3404DD866E6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55" r="29355"/>
          <a:stretch/>
        </p:blipFill>
        <p:spPr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85359-5FD3-D5C8-1467-F7082543AA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03312" y="2052918"/>
            <a:ext cx="8946541" cy="419548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/>
            <a:r>
              <a:rPr lang="en-US"/>
              <a:t>To what extent are physical activity level and daily dietary intake associated with BMI among adult NHANES participants from the 2015–2016 and 2017–2018 cycles?</a:t>
            </a:r>
          </a:p>
          <a:p>
            <a:pPr marL="0" indent="0"/>
            <a:r>
              <a:rPr lang="en-US"/>
              <a:t>These questions are tenable to the project because:</a:t>
            </a:r>
          </a:p>
          <a:p>
            <a:r>
              <a:rPr lang="en-US" dirty="0"/>
              <a:t>This question is specific and </a:t>
            </a:r>
            <a:r>
              <a:rPr lang="en-US"/>
              <a:t>testable.</a:t>
            </a:r>
            <a:endParaRPr lang="en-US" dirty="0"/>
          </a:p>
          <a:p>
            <a:r>
              <a:rPr lang="en-US" dirty="0"/>
              <a:t>T examines whether a small set of </a:t>
            </a:r>
            <a:r>
              <a:rPr lang="en-US"/>
              <a:t>lifestyle variables can help explain BMI.</a:t>
            </a:r>
            <a:endParaRPr lang="en-US" dirty="0"/>
          </a:p>
          <a:p>
            <a:r>
              <a:rPr lang="en-US"/>
              <a:t>It aligns well with the NHANES dataset.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66051-9A8D-AB51-EEFB-7677CCB2B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fld id="{AABDD37E-812B-468F-B489-3911FC6F6723}" type="datetime1">
              <a:rPr lang="en-US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4/19/2026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A6235-3D99-C9B4-4037-D7F62E83E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FC93-FE33-B17E-E50C-7ED72B635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450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EE37FA5-3023-926A-391C-898D9F9AE9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002" r="36420" b="-1"/>
          <a:stretch>
            <a:fillRect/>
          </a:stretch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E133A0-1764-3DC0-A9D7-7733B04AF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/>
              <a:t>PROJECT WORKFLOW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C6822A-D1D9-EA6C-D8F4-6F6AB9565D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3468" y="2666999"/>
            <a:ext cx="5260680" cy="31242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000" b="0"/>
              <a:t>Merge </a:t>
            </a:r>
            <a:r>
              <a:rPr lang="en-US" sz="2000"/>
              <a:t>NHANES </a:t>
            </a:r>
            <a:r>
              <a:rPr lang="en-US" sz="2000" b="0"/>
              <a:t>datasets.</a:t>
            </a:r>
          </a:p>
          <a:p>
            <a:pPr marL="457200" indent="-457200">
              <a:buFont typeface="Arial"/>
              <a:buChar char="•"/>
            </a:pPr>
            <a:r>
              <a:rPr lang="en-US" sz="2000" b="0"/>
              <a:t>Clean and prepare the data.</a:t>
            </a:r>
          </a:p>
          <a:p>
            <a:pPr marL="457200" indent="-457200">
              <a:buFont typeface="Arial"/>
              <a:buChar char="•"/>
            </a:pPr>
            <a:r>
              <a:rPr lang="en-US" sz="2000" b="0"/>
              <a:t>Perform exploratory data analysis.</a:t>
            </a:r>
          </a:p>
          <a:p>
            <a:pPr marL="457200" indent="-457200">
              <a:buFont typeface="Arial"/>
              <a:buChar char="•"/>
            </a:pPr>
            <a:r>
              <a:rPr lang="en-US" sz="2000" b="0"/>
              <a:t>Compare </a:t>
            </a:r>
            <a:r>
              <a:rPr lang="en-US" sz="2000"/>
              <a:t>BMI</a:t>
            </a:r>
            <a:r>
              <a:rPr lang="en-US" sz="2000" b="0"/>
              <a:t> by activity group using a t-test.</a:t>
            </a:r>
          </a:p>
          <a:p>
            <a:pPr marL="457200" indent="-457200">
              <a:buFont typeface="Arial"/>
              <a:buChar char="•"/>
            </a:pPr>
            <a:r>
              <a:rPr lang="en-US" sz="2000" b="0"/>
              <a:t>Build a regression model.</a:t>
            </a:r>
          </a:p>
          <a:p>
            <a:pPr marL="457200" indent="-457200">
              <a:buFont typeface="Arial"/>
              <a:buChar char="•"/>
            </a:pPr>
            <a:r>
              <a:rPr lang="en-US" sz="2000" b="0"/>
              <a:t>Interpret the results and limitations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20E4A-2DA7-367F-889E-11AF801A3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3C46E4F-8270-497D-A4DE-9B37A9C4BC18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4/19/2026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0C200-7BBC-B1AA-6E27-4596490E6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2080" y="5883275"/>
            <a:ext cx="549086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7C8A9-3ADD-70A8-B9C7-245046BF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1035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753EF2A-E126-4B21-AC3D-7BF4258F6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BBC4FB4-19BD-4626-A293-D8411F0E2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6BAB8189-D27D-423E-B154-5E4DFD3F5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122E102-9E03-43D3-B783-795507F4D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AF0C8C1-0967-4B1A-9850-8B4AF2F3F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7DD20243-46C6-46E5-A705-B67ADDC88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DDCA251B-4F28-43A9-A5FD-47101E24C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7B3E067-68A1-4E6F-8B2A-DF0DC2803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4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53411-4585-040B-5834-42C4EFE76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63486" y="1266958"/>
            <a:ext cx="2569028" cy="45284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DATA SOURCE AND VARIABLES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48F0EEF-7B63-4EC4-96D4-6AFBF46B1A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FB5E673-6D85-4457-A048-FD09048DC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67AE3-F49B-E352-A529-8E3AAB9EE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>
              <a:spcAft>
                <a:spcPts val="600"/>
              </a:spcAft>
            </a:pPr>
            <a:fld id="{84C450F2-3BB4-4AE4-8A35-A9D7AEA4C850}" type="slidenum">
              <a:rPr lang="en-US">
                <a:solidFill>
                  <a:srgbClr val="FFFFFF"/>
                </a:solidFill>
              </a:rPr>
              <a:pPr defTabSz="457200">
                <a:spcAft>
                  <a:spcPts val="600"/>
                </a:spcAft>
              </a:pPr>
              <a:t>5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CA12B-9FEC-9EC2-45A2-67466ADBD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4033" y="6355080"/>
            <a:ext cx="3691842" cy="3048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r>
              <a:rPr lang="en-US" b="0" i="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E3DB6-9604-119A-147D-87313E70E6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9030" y="6355082"/>
            <a:ext cx="1606472" cy="3047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>
              <a:spcAft>
                <a:spcPts val="600"/>
              </a:spcAft>
            </a:pPr>
            <a:fld id="{44E2E664-B024-4B15-A27C-3009EED3249B}" type="datetime1">
              <a:rPr lang="en-US">
                <a:solidFill>
                  <a:schemeClr val="tx1">
                    <a:alpha val="60000"/>
                  </a:schemeClr>
                </a:solidFill>
              </a:rPr>
              <a:pPr algn="r" defTabSz="457200">
                <a:spcAft>
                  <a:spcPts val="600"/>
                </a:spcAft>
              </a:pPr>
              <a:t>4/19/2026</a:t>
            </a:fld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2F81C-2BD8-A4FA-1C47-752CDA281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4033" y="1266958"/>
            <a:ext cx="6248624" cy="45284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/>
              <a:t>Data Source:</a:t>
            </a:r>
            <a:br>
              <a:rPr lang="en-US" sz="1800"/>
            </a:br>
            <a:r>
              <a:rPr lang="en-US" sz="1800"/>
              <a:t>1. NHANES 2015-2016 and 2017-2018</a:t>
            </a:r>
            <a:br>
              <a:rPr lang="en-US" sz="1800"/>
            </a:br>
            <a:r>
              <a:rPr lang="en-US" sz="1800"/>
              <a:t>2. Files used: DEMO, DR1TOT, PAQ, BMX</a:t>
            </a:r>
            <a:br>
              <a:rPr lang="en-US" sz="1800"/>
            </a:br>
            <a:r>
              <a:rPr lang="en-US" sz="1800"/>
              <a:t>3. Datasets merged using SEQN</a:t>
            </a:r>
            <a:br>
              <a:rPr lang="en-US" sz="1800"/>
            </a:br>
            <a:br>
              <a:rPr lang="en-US" sz="1800"/>
            </a:br>
            <a:r>
              <a:rPr lang="en-US" sz="1800"/>
              <a:t>Outcome Variable:</a:t>
            </a:r>
            <a:br>
              <a:rPr lang="en-US" sz="1800"/>
            </a:br>
            <a:r>
              <a:rPr lang="en-US" sz="1800"/>
              <a:t>1. BMI</a:t>
            </a:r>
            <a:br>
              <a:rPr lang="en-US" sz="1800"/>
            </a:br>
            <a:br>
              <a:rPr lang="en-US" sz="1800"/>
            </a:br>
            <a:r>
              <a:rPr lang="en-US" sz="1800"/>
              <a:t>Predicator Variables:</a:t>
            </a:r>
            <a:br>
              <a:rPr lang="en-US" sz="1800"/>
            </a:br>
            <a:r>
              <a:rPr lang="en-US" sz="1800"/>
              <a:t>1. Age</a:t>
            </a:r>
            <a:br>
              <a:rPr lang="en-US" sz="1800"/>
            </a:br>
            <a:r>
              <a:rPr lang="en-US" sz="1800"/>
              <a:t>2. Gender</a:t>
            </a:r>
            <a:br>
              <a:rPr lang="en-US" sz="1800"/>
            </a:br>
            <a:r>
              <a:rPr lang="en-US" sz="1800"/>
              <a:t>3. Activity group</a:t>
            </a:r>
            <a:br>
              <a:rPr lang="en-US" sz="1800"/>
            </a:br>
            <a:r>
              <a:rPr lang="en-US" sz="1800"/>
              <a:t>4. Calories</a:t>
            </a:r>
            <a:br>
              <a:rPr lang="en-US" sz="1800"/>
            </a:br>
            <a:r>
              <a:rPr lang="en-US" sz="1800"/>
              <a:t>5. Protein</a:t>
            </a:r>
            <a:br>
              <a:rPr lang="en-US" sz="1800"/>
            </a:br>
            <a:r>
              <a:rPr lang="en-US" sz="1800"/>
              <a:t>6. Carbohydrates</a:t>
            </a:r>
            <a:br>
              <a:rPr lang="en-US" sz="1800"/>
            </a:br>
            <a:r>
              <a:rPr lang="en-US" sz="1800"/>
              <a:t>7. Fat</a:t>
            </a:r>
          </a:p>
        </p:txBody>
      </p:sp>
    </p:spTree>
    <p:extLst>
      <p:ext uri="{BB962C8B-B14F-4D97-AF65-F5344CB8AC3E}">
        <p14:creationId xmlns:p14="http://schemas.microsoft.com/office/powerpoint/2010/main" val="4198690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715DC6F-052E-4EDE-A74B-047632EA1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15B249B-C1B9-4C06-93BC-5B0FE82FC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5F27C211-3B72-4D83-B617-D63B404AD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63669BB-B593-41AA-88AF-DF4F5E26B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A95CA20-A5B7-4232-9498-E1325736C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8B24F55B-6511-4781-950F-F000AB52E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4EC82A-4C8C-4C89-84E5-F167F921B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B750E1-014E-2F32-5FE0-025C27322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>
                <a:solidFill>
                  <a:srgbClr val="EBEBEB"/>
                </a:solidFill>
              </a:rPr>
              <a:t>Data Preparation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20274AE2-B8C3-42B7-A71C-2E111FA460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Freeform 11">
            <a:extLst>
              <a:ext uri="{FF2B5EF4-FFF2-40B4-BE49-F238E27FC236}">
                <a16:creationId xmlns:a16="http://schemas.microsoft.com/office/drawing/2014/main" id="{B1C4F06D-9A48-4DB4-BB8C-E7FD6E58D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8CBEAC-6AB1-4AD1-AD3D-FF124A71A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FBC74-35D9-C062-A1B7-A5F83C6DD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>
              <a:spcAft>
                <a:spcPts val="600"/>
              </a:spcAft>
            </a:pPr>
            <a:fld id="{CC057153-B650-4DEB-B370-79DDCFDCE934}" type="slidenum">
              <a:rPr lang="en-US">
                <a:solidFill>
                  <a:srgbClr val="FFFFFF"/>
                </a:solidFill>
              </a:rPr>
              <a:pPr defTabSz="457200">
                <a:spcAft>
                  <a:spcPts val="600"/>
                </a:spcAft>
              </a:pPr>
              <a:t>6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AA2F1-CC44-35CF-7A34-1B814A19A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48250" y="6359311"/>
            <a:ext cx="4206240" cy="3048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>
              <a:spcAft>
                <a:spcPts val="600"/>
              </a:spcAft>
            </a:pPr>
            <a:r>
              <a:rPr lang="en-US" b="0" i="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08E80-2392-A58F-EEB2-EE6337888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54068" y="6355080"/>
            <a:ext cx="2290232" cy="3047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defTabSz="457200">
              <a:spcAft>
                <a:spcPts val="600"/>
              </a:spcAft>
            </a:pPr>
            <a:fld id="{D5376D00-6106-43BB-8923-18C7A7C520E4}" type="datetime1">
              <a:rPr lang="en-US">
                <a:solidFill>
                  <a:schemeClr val="accent1"/>
                </a:solidFill>
              </a:rPr>
              <a:pPr algn="r" defTabSz="457200">
                <a:spcAft>
                  <a:spcPts val="600"/>
                </a:spcAft>
              </a:pPr>
              <a:t>4/19/2026</a:t>
            </a:fld>
            <a:endParaRPr lang="en-US">
              <a:solidFill>
                <a:schemeClr val="accent1"/>
              </a:solidFill>
            </a:endParaRP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FD9BA7EF-BFB4-211B-7F4B-5C00F8D0D2AC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347752544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87927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42000"/>
                <a:hueMod val="42000"/>
                <a:satMod val="124000"/>
                <a:lumMod val="62000"/>
              </a:schemeClr>
              <a:schemeClr val="bg2">
                <a:tint val="96000"/>
                <a:satMod val="13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BD2400-94AD-31F6-37F1-0D9392194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D9B8FD4-CDEB-4EB4-B4DE-C89E11938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36">
            <a:extLst>
              <a:ext uri="{FF2B5EF4-FFF2-40B4-BE49-F238E27FC236}">
                <a16:creationId xmlns:a16="http://schemas.microsoft.com/office/drawing/2014/main" id="{5A2E3D1D-9E9F-4739-BA14-D4D7FA9FB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FFB365B-E9DC-4859-B8AB-CB83EEBE4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ADAB9C8-EB37-4914-A699-C716FC8FE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0D08B-C7CA-70C3-F459-4B8F8CFD3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461AE3-EE8B-D6AA-C542-739A07913E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72902" y="6355080"/>
            <a:ext cx="2103120" cy="304799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fld id="{1ABC5C81-4B4A-4C1A-B255-174CB9D3D2AE}" type="datetime1">
              <a:rPr lang="en-US">
                <a:solidFill>
                  <a:schemeClr val="bg1">
                    <a:alpha val="60000"/>
                  </a:schemeClr>
                </a:solidFill>
              </a:rPr>
              <a:pPr algn="r">
                <a:spcAft>
                  <a:spcPts val="600"/>
                </a:spcAft>
              </a:pPr>
              <a:t>4/19/2026</a:t>
            </a:fld>
            <a:endParaRPr lang="en-US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BB50A7-8097-B5C9-4E58-9ED8D14AD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bg2"/>
                </a:solidFill>
              </a:rPr>
              <a:t>Activity Group Definition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FA715D-0DE7-5C1E-A01B-3CC861FF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1176" y="6355080"/>
            <a:ext cx="3987136" cy="30480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alpha val="60000"/>
                  </a:schemeClr>
                </a:solidFill>
              </a:rPr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6AC183E-963F-281D-8D7A-8C191D642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6269434" cy="447082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700" b="1">
                <a:ea typeface="+mj-lt"/>
                <a:cs typeface="+mj-lt"/>
              </a:rPr>
              <a:t>Defining Activity Groups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 b="1">
                <a:ea typeface="+mj-lt"/>
                <a:cs typeface="+mj-lt"/>
              </a:rPr>
              <a:t>Active</a:t>
            </a:r>
            <a:r>
              <a:rPr lang="en-US" sz="1700">
                <a:ea typeface="+mj-lt"/>
                <a:cs typeface="+mj-lt"/>
              </a:rPr>
              <a:t>: participants who reported either moderate or vigorous activity 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 b="1">
                <a:ea typeface="+mj-lt"/>
                <a:cs typeface="+mj-lt"/>
              </a:rPr>
              <a:t>Not Active</a:t>
            </a:r>
            <a:r>
              <a:rPr lang="en-US" sz="1700">
                <a:ea typeface="+mj-lt"/>
                <a:cs typeface="+mj-lt"/>
              </a:rPr>
              <a:t>: participants who reported no to both moderate and vigorous activity </a:t>
            </a:r>
            <a:endParaRPr lang="en-US" sz="1700"/>
          </a:p>
          <a:p>
            <a:pPr marL="0" indent="0">
              <a:lnSpc>
                <a:spcPct val="90000"/>
              </a:lnSpc>
              <a:buNone/>
            </a:pPr>
            <a:r>
              <a:rPr lang="en-US" sz="1700" b="1">
                <a:ea typeface="+mj-lt"/>
                <a:cs typeface="+mj-lt"/>
              </a:rPr>
              <a:t>Why this definition works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>
                <a:ea typeface="+mj-lt"/>
                <a:cs typeface="+mj-lt"/>
              </a:rPr>
              <a:t>It is simple 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>
                <a:ea typeface="+mj-lt"/>
                <a:cs typeface="+mj-lt"/>
              </a:rPr>
              <a:t>It is clear 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>
                <a:ea typeface="+mj-lt"/>
                <a:cs typeface="+mj-lt"/>
              </a:rPr>
              <a:t>It is reproducible </a:t>
            </a:r>
            <a:endParaRPr lang="en-US" sz="1700"/>
          </a:p>
          <a:p>
            <a:pPr marL="0" indent="0">
              <a:lnSpc>
                <a:spcPct val="90000"/>
              </a:lnSpc>
              <a:buNone/>
            </a:pPr>
            <a:r>
              <a:rPr lang="en-US" sz="1700" b="1">
                <a:ea typeface="+mj-lt"/>
                <a:cs typeface="+mj-lt"/>
              </a:rPr>
              <a:t>Important limitation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>
                <a:ea typeface="+mj-lt"/>
                <a:cs typeface="+mj-lt"/>
              </a:rPr>
              <a:t>This is a coarse grouping 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>
                <a:ea typeface="+mj-lt"/>
                <a:cs typeface="+mj-lt"/>
              </a:rPr>
              <a:t>It does not capture exercise frequency or full intensity 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>
                <a:ea typeface="+mj-lt"/>
                <a:cs typeface="+mj-lt"/>
              </a:rPr>
              <a:t>It is based on self-reported activity</a:t>
            </a:r>
            <a:endParaRPr lang="en-US" sz="1700"/>
          </a:p>
          <a:p>
            <a:pPr>
              <a:lnSpc>
                <a:spcPct val="90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1384372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42000"/>
                <a:hueMod val="42000"/>
                <a:satMod val="124000"/>
                <a:lumMod val="62000"/>
              </a:schemeClr>
              <a:schemeClr val="bg2">
                <a:tint val="96000"/>
                <a:satMod val="13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A46FF977-1FC2-4411-A10F-E3EB22EC8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CBFBAC2-BBAA-4C65-95AA-70920AAC0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40" name="Oval 39">
            <a:extLst>
              <a:ext uri="{FF2B5EF4-FFF2-40B4-BE49-F238E27FC236}">
                <a16:creationId xmlns:a16="http://schemas.microsoft.com/office/drawing/2014/main" id="{BCEAFC9A-0467-4B58-9ED0-1DFDB270C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6F803B3-0605-4715-AD48-04562ACD7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6092646-03BD-45DF-BBD5-BAC631C8A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080FBBF1-114B-4ACF-9D94-77D785712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979F20-7FE0-9464-CC8C-AAB74EE17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Exploratory Data Analysis</a:t>
            </a:r>
          </a:p>
        </p:txBody>
      </p:sp>
      <p:sp>
        <p:nvSpPr>
          <p:cNvPr id="44" name="Freeform 23">
            <a:extLst>
              <a:ext uri="{FF2B5EF4-FFF2-40B4-BE49-F238E27FC236}">
                <a16:creationId xmlns:a16="http://schemas.microsoft.com/office/drawing/2014/main" id="{4AE8114C-5670-4AC3-A5F5-40BE52791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 5">
            <a:extLst>
              <a:ext uri="{FF2B5EF4-FFF2-40B4-BE49-F238E27FC236}">
                <a16:creationId xmlns:a16="http://schemas.microsoft.com/office/drawing/2014/main" id="{4CFBE599-D1BD-44B0-B15C-C3BEF1F31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2450577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47182EB-113C-42C9-8912-8A94BCE14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4411" y="0"/>
            <a:ext cx="6098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graph of activity groups&#10;&#10;AI-generated content may be incorrect.">
            <a:extLst>
              <a:ext uri="{FF2B5EF4-FFF2-40B4-BE49-F238E27FC236}">
                <a16:creationId xmlns:a16="http://schemas.microsoft.com/office/drawing/2014/main" id="{332E43B9-9DE6-5BF1-3F68-CB1F7E340A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4408" y="707438"/>
            <a:ext cx="2627752" cy="2043076"/>
          </a:xfrm>
          <a:prstGeom prst="rect">
            <a:avLst/>
          </a:prstGeom>
          <a:effectLst/>
        </p:spPr>
      </p:pic>
      <p:pic>
        <p:nvPicPr>
          <p:cNvPr id="12" name="Picture 11" descr="A blue dot diagram with white text&#10;&#10;AI-generated content may be incorrect.">
            <a:extLst>
              <a:ext uri="{FF2B5EF4-FFF2-40B4-BE49-F238E27FC236}">
                <a16:creationId xmlns:a16="http://schemas.microsoft.com/office/drawing/2014/main" id="{50CF8262-232B-4293-C764-02C22B2638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16129" y="815832"/>
            <a:ext cx="2627752" cy="1826288"/>
          </a:xfrm>
          <a:prstGeom prst="rect">
            <a:avLst/>
          </a:prstGeom>
          <a:effectLst/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32567544-8BB1-45B6-ADFA-E8A37C5B0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FE3EB-673E-77EF-2980-BA6EC57A5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981FD7-1307-9D76-715F-F66EFF1D93B3}"/>
              </a:ext>
            </a:extLst>
          </p:cNvPr>
          <p:cNvSpPr txBox="1"/>
          <p:nvPr/>
        </p:nvSpPr>
        <p:spPr>
          <a:xfrm>
            <a:off x="646113" y="2052918"/>
            <a:ext cx="4165146" cy="419548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latin typeface="+mj-lt"/>
                <a:ea typeface="+mj-ea"/>
                <a:cs typeface="+mj-cs"/>
              </a:rPr>
              <a:t>Main observations:</a:t>
            </a:r>
          </a:p>
          <a:p>
            <a:pPr marL="342900" indent="-34290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latin typeface="+mj-lt"/>
                <a:ea typeface="+mj-ea"/>
                <a:cs typeface="+mj-cs"/>
              </a:rPr>
              <a:t>BMI showed a broad distribution across participants.</a:t>
            </a:r>
          </a:p>
          <a:p>
            <a:pPr marL="342900" indent="-34290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latin typeface="+mj-lt"/>
                <a:ea typeface="+mj-ea"/>
                <a:cs typeface="+mj-cs"/>
              </a:rPr>
              <a:t>BMI differed somewhat across activity groups.</a:t>
            </a:r>
          </a:p>
          <a:p>
            <a:pPr marL="342900" indent="-34290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latin typeface="+mj-lt"/>
                <a:ea typeface="+mj-ea"/>
                <a:cs typeface="+mj-cs"/>
              </a:rPr>
              <a:t>The visual relationship between calories and BMI appeared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F804B-D6FC-83A9-36FC-E721C009E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6111" y="6381750"/>
            <a:ext cx="3859795" cy="30480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205E06-DEAE-0DD1-4D36-DFAC6C725B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437" y="6381750"/>
            <a:ext cx="2790444" cy="3047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spcAft>
                <a:spcPts val="600"/>
              </a:spcAft>
            </a:pPr>
            <a:fld id="{CE5A4445-5DD2-41DC-BDE3-6A90E266904E}" type="datetime1">
              <a:rPr lang="en-US">
                <a:solidFill>
                  <a:schemeClr val="accent1"/>
                </a:solidFill>
              </a:rPr>
              <a:pPr algn="r">
                <a:spcAft>
                  <a:spcPts val="600"/>
                </a:spcAft>
              </a:pPr>
              <a:t>4/19/2026</a:t>
            </a:fld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10" name="Content Placeholder 9" descr="A diagram of a distribution of bmi&#10;&#10;AI-generated content may be incorrect.">
            <a:extLst>
              <a:ext uri="{FF2B5EF4-FFF2-40B4-BE49-F238E27FC236}">
                <a16:creationId xmlns:a16="http://schemas.microsoft.com/office/drawing/2014/main" id="{D3514E7F-43A3-08D2-DCD8-07D0ED198ED1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10"/>
          <a:stretch>
            <a:fillRect/>
          </a:stretch>
        </p:blipFill>
        <p:spPr>
          <a:xfrm>
            <a:off x="6372201" y="3006197"/>
            <a:ext cx="4893889" cy="324220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941379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42000"/>
                <a:hueMod val="42000"/>
                <a:satMod val="124000"/>
                <a:lumMod val="62000"/>
              </a:schemeClr>
              <a:schemeClr val="bg2">
                <a:tint val="96000"/>
                <a:satMod val="13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753EF2A-E126-4B21-AC3D-7BF4258F6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BBC4FB4-19BD-4626-A293-D8411F0E2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6BAB8189-D27D-423E-B154-5E4DFD3F5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122E102-9E03-43D3-B783-795507F4D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AF0C8C1-0967-4B1A-9850-8B4AF2F3F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DD20243-46C6-46E5-A705-B67ADDC88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59FEF9A-9073-4D0C-AE3F-4B05B7C78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3C28380-E9C5-4DCE-B5C1-4AA895BF6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E55D28D-C2E2-4760-9A13-C5F71FE75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9995C4B-8CD5-40DB-8530-565CC0896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4A050BCC-0CE3-4398-8A11-7F2AFE718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2054B8B-C60C-495C-AAFE-111588B9A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5" name="Freeform 5">
            <a:extLst>
              <a:ext uri="{FF2B5EF4-FFF2-40B4-BE49-F238E27FC236}">
                <a16:creationId xmlns:a16="http://schemas.microsoft.com/office/drawing/2014/main" id="{9A868E46-760C-4803-96E3-94D7FF55D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F332A3-41ED-5C79-EEE4-FB0C4C503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2707" y="1333500"/>
            <a:ext cx="6240580" cy="4191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>
                <a:solidFill>
                  <a:schemeClr val="tx2"/>
                </a:solidFill>
              </a:rPr>
              <a:t>BMI Differences by Activity Group:</a:t>
            </a:r>
            <a:br>
              <a:rPr lang="en-US" sz="1800">
                <a:solidFill>
                  <a:schemeClr val="tx2"/>
                </a:solidFill>
              </a:rPr>
            </a:br>
            <a:r>
              <a:rPr lang="en-US" sz="1800">
                <a:solidFill>
                  <a:schemeClr val="tx2"/>
                </a:solidFill>
              </a:rPr>
              <a:t>1. I used an independent samples t-test to compare BMI between Active and Not Active participants.</a:t>
            </a:r>
            <a:br>
              <a:rPr lang="en-US" sz="1800">
                <a:solidFill>
                  <a:schemeClr val="tx2"/>
                </a:solidFill>
              </a:rPr>
            </a:br>
            <a:r>
              <a:rPr lang="en-US" sz="1800">
                <a:solidFill>
                  <a:schemeClr val="tx2"/>
                </a:solidFill>
              </a:rPr>
              <a:t>2. The activity groups were based on self-reported moderate or vigorous activity</a:t>
            </a:r>
            <a:br>
              <a:rPr lang="en-US" sz="1800">
                <a:solidFill>
                  <a:schemeClr val="tx2"/>
                </a:solidFill>
              </a:rPr>
            </a:br>
            <a:br>
              <a:rPr lang="en-US" sz="1800">
                <a:solidFill>
                  <a:schemeClr val="tx2"/>
                </a:solidFill>
              </a:rPr>
            </a:br>
            <a:r>
              <a:rPr lang="en-US" sz="1800">
                <a:solidFill>
                  <a:schemeClr val="tx2"/>
                </a:solidFill>
              </a:rPr>
              <a:t>Results:</a:t>
            </a:r>
            <a:br>
              <a:rPr lang="en-US" sz="1800">
                <a:solidFill>
                  <a:schemeClr val="tx2"/>
                </a:solidFill>
              </a:rPr>
            </a:br>
            <a:r>
              <a:rPr lang="en-US" sz="1800">
                <a:solidFill>
                  <a:schemeClr val="tx2"/>
                </a:solidFill>
              </a:rPr>
              <a:t>1. Mean BMI (Active): 29.939830692424568</a:t>
            </a:r>
            <a:br>
              <a:rPr lang="en-US" sz="1800">
                <a:solidFill>
                  <a:schemeClr val="tx2"/>
                </a:solidFill>
              </a:rPr>
            </a:br>
            <a:r>
              <a:rPr lang="en-US" sz="1800">
                <a:solidFill>
                  <a:schemeClr val="tx2"/>
                </a:solidFill>
              </a:rPr>
              <a:t>2. Mean BMI (Not Active): 29.34665700308027</a:t>
            </a:r>
            <a:br>
              <a:rPr lang="en-US" sz="1800">
                <a:solidFill>
                  <a:schemeClr val="tx2"/>
                </a:solidFill>
              </a:rPr>
            </a:br>
            <a:r>
              <a:rPr lang="en-US" sz="1800">
                <a:solidFill>
                  <a:schemeClr val="tx2"/>
                </a:solidFill>
              </a:rPr>
              <a:t>3. T-statistic: 4.102133353427426</a:t>
            </a:r>
            <a:br>
              <a:rPr lang="en-US" sz="1800">
                <a:solidFill>
                  <a:schemeClr val="tx2"/>
                </a:solidFill>
              </a:rPr>
            </a:br>
            <a:r>
              <a:rPr lang="en-US" sz="1800">
                <a:solidFill>
                  <a:schemeClr val="tx2"/>
                </a:solidFill>
              </a:rPr>
              <a:t>4. P-value: 4.127000212838253</a:t>
            </a:r>
            <a:br>
              <a:rPr lang="en-US" sz="1800">
                <a:solidFill>
                  <a:schemeClr val="tx2"/>
                </a:solidFill>
              </a:rPr>
            </a:br>
            <a:br>
              <a:rPr lang="en-US" sz="1800">
                <a:solidFill>
                  <a:schemeClr val="tx2"/>
                </a:solidFill>
              </a:rPr>
            </a:br>
            <a:r>
              <a:rPr lang="en-US" sz="1800">
                <a:solidFill>
                  <a:schemeClr val="tx2"/>
                </a:solidFill>
              </a:rPr>
              <a:t>Interpretation:</a:t>
            </a:r>
            <a:br>
              <a:rPr lang="en-US" sz="1800">
                <a:solidFill>
                  <a:schemeClr val="tx2"/>
                </a:solidFill>
              </a:rPr>
            </a:br>
            <a:r>
              <a:rPr lang="en-US" sz="1800">
                <a:solidFill>
                  <a:schemeClr val="tx2"/>
                </a:solidFill>
              </a:rPr>
              <a:t>1. There is a statistically significant difference in BMI between the two activity groups.</a:t>
            </a:r>
            <a:br>
              <a:rPr lang="en-US" sz="1800">
                <a:solidFill>
                  <a:schemeClr val="tx2"/>
                </a:solidFill>
              </a:rPr>
            </a:br>
            <a:r>
              <a:rPr lang="en-US" sz="1800">
                <a:solidFill>
                  <a:schemeClr val="tx2"/>
                </a:solidFill>
              </a:rPr>
              <a:t>2. Because the activity variable is simplified, the results should be interpreted with caution.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CD8EA-EA7C-8648-6703-261B5BAF001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54955" y="1333500"/>
            <a:ext cx="2914380" cy="4191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2000"/>
              <a:t>T-TEST RESULTS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29139-7FC6-888D-5CC9-C5B5E32F7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1110" y="6391838"/>
            <a:ext cx="3859795" cy="3048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r>
              <a:rPr lang="en-US" b="0" i="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632DB3C-29C8-435B-832E-2A0003319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61021" y="1828800"/>
            <a:ext cx="0" cy="3200400"/>
          </a:xfrm>
          <a:prstGeom prst="line">
            <a:avLst/>
          </a:prstGeom>
          <a:ln w="19050" cap="sq">
            <a:solidFill>
              <a:schemeClr val="bg2">
                <a:lumMod val="60000"/>
                <a:lumOff val="4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9EABE-3580-5671-50D4-25E706EDC2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4418" y="6391838"/>
            <a:ext cx="2194903" cy="3047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>
              <a:spcAft>
                <a:spcPts val="600"/>
              </a:spcAft>
            </a:pPr>
            <a:fld id="{FE998514-CB2E-43FF-940B-F99B0EA9BFC0}" type="datetime1">
              <a:rPr lang="en-US">
                <a:solidFill>
                  <a:schemeClr val="accent1"/>
                </a:solidFill>
              </a:rPr>
              <a:pPr algn="r" defTabSz="457200">
                <a:spcAft>
                  <a:spcPts val="600"/>
                </a:spcAft>
              </a:pPr>
              <a:t>4/19/2026</a:t>
            </a:fld>
            <a:endParaRPr lang="en-US">
              <a:solidFill>
                <a:schemeClr val="accent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C91B8-8829-9453-E93E-4D286CFA0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2612" y="6391838"/>
            <a:ext cx="633127" cy="3017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>
              <a:spcAft>
                <a:spcPts val="600"/>
              </a:spcAft>
            </a:pPr>
            <a:fld id="{CC057153-B650-4DEB-B370-79DDCFDCE934}" type="slidenum">
              <a:rPr lang="en-US" sz="1100">
                <a:solidFill>
                  <a:schemeClr val="accent1"/>
                </a:solidFill>
              </a:rPr>
              <a:pPr algn="r" defTabSz="457200">
                <a:spcAft>
                  <a:spcPts val="600"/>
                </a:spcAft>
              </a:pPr>
              <a:t>9</a:t>
            </a:fld>
            <a:endParaRPr lang="en-US" sz="11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01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6BA28-7B5B-3D59-0D23-C072A5C2A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7" y="1050185"/>
            <a:ext cx="10392789" cy="5811911"/>
          </a:xfrm>
        </p:spPr>
        <p:txBody>
          <a:bodyPr/>
          <a:lstStyle/>
          <a:p>
            <a:r>
              <a:rPr lang="en-US" sz="2000" dirty="0"/>
              <a:t>Goal:</a:t>
            </a:r>
            <a:br>
              <a:rPr lang="en-US" sz="2000" dirty="0"/>
            </a:br>
            <a:r>
              <a:rPr lang="en-US" sz="2000" dirty="0"/>
              <a:t>1. To examine whether BMI can be explained or predicted using a small set of </a:t>
            </a:r>
            <a:r>
              <a:rPr lang="en-US" sz="2000"/>
              <a:t>demographic, activity, and dietary variables.</a:t>
            </a:r>
            <a:br>
              <a:rPr lang="en-US" sz="2000" dirty="0"/>
            </a:br>
            <a:br>
              <a:rPr lang="en-US" sz="2000" dirty="0"/>
            </a:br>
            <a:r>
              <a:rPr lang="en-US" sz="2000"/>
              <a:t>Model used:</a:t>
            </a:r>
            <a:br>
              <a:rPr lang="en-US" sz="2000" dirty="0"/>
            </a:br>
            <a:r>
              <a:rPr lang="en-US" sz="2000"/>
              <a:t>1. Linear Regression</a:t>
            </a:r>
            <a:br>
              <a:rPr lang="en-US" sz="2000" dirty="0"/>
            </a:br>
            <a:br>
              <a:rPr lang="en-US" sz="2000" dirty="0"/>
            </a:br>
            <a:r>
              <a:rPr lang="en-US" sz="2000"/>
              <a:t>Predicators:</a:t>
            </a:r>
            <a:br>
              <a:rPr lang="en-US" sz="2000" dirty="0"/>
            </a:br>
            <a:r>
              <a:rPr lang="en-US" sz="2000"/>
              <a:t>1. Age</a:t>
            </a:r>
            <a:br>
              <a:rPr lang="en-US" sz="2000" dirty="0"/>
            </a:br>
            <a:r>
              <a:rPr lang="en-US" sz="2000"/>
              <a:t>2. Gender</a:t>
            </a:r>
            <a:br>
              <a:rPr lang="en-US" sz="2000" dirty="0"/>
            </a:br>
            <a:r>
              <a:rPr lang="en-US" sz="2000"/>
              <a:t>3. Activity group</a:t>
            </a:r>
            <a:br>
              <a:rPr lang="en-US" sz="2000" dirty="0"/>
            </a:br>
            <a:r>
              <a:rPr lang="en-US" sz="2000"/>
              <a:t>4. Calories</a:t>
            </a:r>
            <a:br>
              <a:rPr lang="en-US" sz="2000" dirty="0"/>
            </a:br>
            <a:r>
              <a:rPr lang="en-US" sz="2000"/>
              <a:t>5. Protein</a:t>
            </a:r>
            <a:br>
              <a:rPr lang="en-US" sz="2000" dirty="0"/>
            </a:br>
            <a:r>
              <a:rPr lang="en-US" sz="2000"/>
              <a:t>6. Carbohydrates</a:t>
            </a:r>
            <a:br>
              <a:rPr lang="en-US" sz="2000" dirty="0"/>
            </a:br>
            <a:r>
              <a:rPr lang="en-US" sz="2000"/>
              <a:t>7. Fat</a:t>
            </a:r>
            <a:br>
              <a:rPr lang="en-US" sz="2000" dirty="0"/>
            </a:br>
            <a:br>
              <a:rPr lang="en-US" sz="2000" dirty="0"/>
            </a:br>
            <a:r>
              <a:rPr lang="en-US" sz="2000">
                <a:ea typeface="+mj-lt"/>
                <a:cs typeface="+mj-lt"/>
              </a:rPr>
              <a:t>I kept linear regression as the final model because Ridge regression did not meaningfully improve performance.</a:t>
            </a:r>
            <a:endParaRPr lang="en-US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443BCF-B6AE-B157-B5A8-60575A5F5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7" y="277266"/>
            <a:ext cx="8825658" cy="75975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1"/>
                </a:solidFill>
              </a:rPr>
              <a:t>REGRESSION MODEL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9490C-0AC8-DB82-0D8F-BF8C4A553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E0C6-06DB-432B-A080-77CD90ED5127}" type="datetime1">
              <a:rPr lang="en-US" smtClean="0"/>
              <a:t>4/19/2026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A4C37-2120-C1F6-AF98-9C4415689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62AC7-4EBD-6C7B-71E2-19F58FD8E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730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42000"/>
                <a:hueMod val="42000"/>
                <a:satMod val="124000"/>
                <a:lumMod val="62000"/>
              </a:schemeClr>
              <a:schemeClr val="bg2">
                <a:tint val="96000"/>
                <a:satMod val="13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C0F4014E-6BAF-4F6C-B8CE-81A4D8F88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891C919-1CCE-4DE8-BCB6-6D4A823AB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845D3C1D-A85C-44EE-A21E-2DAAEC79F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272C03D-FF5F-4787-9923-252D8F950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09E94B5-14C4-4FFC-A641-4DD9C0733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D987E165-75F1-443C-9A05-ADC511C33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120F23-1809-2CC4-1A94-F826616D2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2381" y="629266"/>
            <a:ext cx="4767471" cy="16419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/>
              <a:t>MODEL PERFORMANCE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F48D212-F96D-0EAA-17F3-CE227FD097E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1525" r="42836" b="6250"/>
          <a:stretch>
            <a:fillRect/>
          </a:stretch>
        </p:blipFill>
        <p:spPr>
          <a:xfrm>
            <a:off x="-1" y="10"/>
            <a:ext cx="4634680" cy="685799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032F8-92FC-BD1A-A9AF-986FE04CF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DF91-6465-ADEF-7133-CCC328584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915" y="6355080"/>
            <a:ext cx="3422033" cy="30480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D71A6-1036-A099-9BDF-27C11F75648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82381" y="2438400"/>
            <a:ext cx="4767471" cy="380999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90000"/>
              </a:lnSpc>
            </a:pPr>
            <a:r>
              <a:rPr lang="en-US" sz="1600"/>
              <a:t>Final Model: Linear Regression</a:t>
            </a:r>
          </a:p>
          <a:p>
            <a:pPr>
              <a:lnSpc>
                <a:spcPct val="90000"/>
              </a:lnSpc>
            </a:pPr>
            <a:r>
              <a:rPr lang="en-US" sz="1600"/>
              <a:t>RMSE = 7.17</a:t>
            </a:r>
          </a:p>
          <a:p>
            <a:pPr>
              <a:lnSpc>
                <a:spcPct val="90000"/>
              </a:lnSpc>
            </a:pPr>
            <a:r>
              <a:rPr lang="en-US" sz="1600"/>
              <a:t>MAE = 5.49</a:t>
            </a:r>
          </a:p>
          <a:p>
            <a:pPr>
              <a:lnSpc>
                <a:spcPct val="90000"/>
              </a:lnSpc>
            </a:pPr>
            <a:r>
              <a:rPr lang="en-US" sz="1600"/>
              <a:t>R-SQUARED = 0.021</a:t>
            </a:r>
          </a:p>
          <a:p>
            <a:pPr marL="0" indent="0">
              <a:lnSpc>
                <a:spcPct val="90000"/>
              </a:lnSpc>
            </a:pPr>
            <a:endParaRPr lang="en-US" sz="1600"/>
          </a:p>
          <a:p>
            <a:pPr marL="0" indent="0">
              <a:lnSpc>
                <a:spcPct val="90000"/>
              </a:lnSpc>
            </a:pPr>
            <a:r>
              <a:rPr lang="en-US" sz="1600"/>
              <a:t>Interpretation:</a:t>
            </a:r>
          </a:p>
          <a:p>
            <a:pPr>
              <a:lnSpc>
                <a:spcPct val="90000"/>
              </a:lnSpc>
            </a:pPr>
            <a:r>
              <a:rPr lang="en-US" sz="1600"/>
              <a:t>The model explains about 2.1% pf the variation in BMI</a:t>
            </a:r>
          </a:p>
          <a:p>
            <a:pPr>
              <a:lnSpc>
                <a:spcPct val="90000"/>
              </a:lnSpc>
            </a:pPr>
            <a:r>
              <a:rPr lang="en-US" sz="1600"/>
              <a:t>This indicates very low explanatory power.</a:t>
            </a:r>
          </a:p>
          <a:p>
            <a:pPr>
              <a:lnSpc>
                <a:spcPct val="90000"/>
              </a:lnSpc>
            </a:pPr>
            <a:r>
              <a:rPr lang="en-US" sz="1600"/>
              <a:t>The selected variables are not enough to meaningfully explain BMI on their own.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9C179B-16F5-B0EA-D1AC-9944121318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9874" y="6355080"/>
            <a:ext cx="3414426" cy="3047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spcAft>
                <a:spcPts val="600"/>
              </a:spcAft>
            </a:pPr>
            <a:fld id="{83D0F5D8-D5B8-4089-B8CF-3C65B488B2D1}" type="datetime1">
              <a:rPr lang="en-US" smtClean="0"/>
              <a:pPr algn="r">
                <a:spcAft>
                  <a:spcPts val="600"/>
                </a:spcAft>
              </a:pPr>
              <a:t>4/19/2026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844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41BF0-B686-A29F-997F-508B02524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5E90F-DD16-4D07-98B2-5ADD02240C41}" type="datetime1">
              <a:rPr lang="en-US" smtClean="0"/>
              <a:t>4/19/2026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50EF4-0955-7408-3882-4FDCAF3F6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43CCF-A463-89C5-41C7-D943D6977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382C6A9-93B2-F295-6456-FBBE67794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578" y="88219"/>
            <a:ext cx="10652760" cy="1133856"/>
          </a:xfrm>
        </p:spPr>
        <p:txBody>
          <a:bodyPr/>
          <a:lstStyle/>
          <a:p>
            <a:r>
              <a:rPr lang="en-US" sz="3200">
                <a:solidFill>
                  <a:srgbClr val="FFFFFF"/>
                </a:solidFill>
              </a:rPr>
              <a:t>Coefficients and Multicollinearity</a:t>
            </a:r>
            <a:endParaRPr lang="en-US" sz="3200">
              <a:solidFill>
                <a:srgbClr val="000000"/>
              </a:solidFill>
            </a:endParaRPr>
          </a:p>
          <a:p>
            <a:endParaRPr lang="en-US" dirty="0"/>
          </a:p>
        </p:txBody>
      </p:sp>
      <p:graphicFrame>
        <p:nvGraphicFramePr>
          <p:cNvPr id="13" name="TextBox 9">
            <a:extLst>
              <a:ext uri="{FF2B5EF4-FFF2-40B4-BE49-F238E27FC236}">
                <a16:creationId xmlns:a16="http://schemas.microsoft.com/office/drawing/2014/main" id="{98D2A623-D467-9A2F-FB9A-C1BA75C05CDF}"/>
              </a:ext>
            </a:extLst>
          </p:cNvPr>
          <p:cNvGraphicFramePr/>
          <p:nvPr/>
        </p:nvGraphicFramePr>
        <p:xfrm>
          <a:off x="38086" y="818858"/>
          <a:ext cx="10359519" cy="3139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7552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753EF2A-E126-4B21-AC3D-7BF4258F6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BBC4FB4-19BD-4626-A293-D8411F0E2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6BAB8189-D27D-423E-B154-5E4DFD3F5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122E102-9E03-43D3-B783-795507F4D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F0C8C1-0967-4B1A-9850-8B4AF2F3F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DD20243-46C6-46E5-A705-B67ADDC88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AAD9C1-AA21-607D-7853-8089C0E73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0FD763-3A14-27F8-D623-4273486C2AEA}"/>
              </a:ext>
            </a:extLst>
          </p:cNvPr>
          <p:cNvSpPr txBox="1"/>
          <p:nvPr/>
        </p:nvSpPr>
        <p:spPr>
          <a:xfrm>
            <a:off x="5204109" y="1645920"/>
            <a:ext cx="5919503" cy="447082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latin typeface="+mj-lt"/>
                <a:ea typeface="+mj-ea"/>
                <a:cs typeface="+mj-cs"/>
              </a:rPr>
              <a:t>Project Limitations:</a:t>
            </a:r>
          </a:p>
          <a:p>
            <a:pPr marL="342900" indent="-342900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latin typeface="+mj-lt"/>
                <a:ea typeface="+mj-ea"/>
                <a:cs typeface="+mj-cs"/>
              </a:rPr>
              <a:t>The activity variable is a simplified binary measure.</a:t>
            </a:r>
          </a:p>
          <a:p>
            <a:pPr marL="342900" indent="-342900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latin typeface="+mj-lt"/>
                <a:ea typeface="+mj-ea"/>
                <a:cs typeface="+mj-cs"/>
              </a:rPr>
              <a:t>Physical activity data are self-reported.</a:t>
            </a:r>
          </a:p>
          <a:p>
            <a:pPr marL="342900" indent="-342900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latin typeface="+mj-lt"/>
                <a:ea typeface="+mj-ea"/>
                <a:cs typeface="+mj-cs"/>
              </a:rPr>
              <a:t>Dietary intake reflects short-term </a:t>
            </a:r>
            <a:r>
              <a:rPr lang="en-US" dirty="0" err="1">
                <a:latin typeface="+mj-lt"/>
                <a:ea typeface="+mj-ea"/>
                <a:cs typeface="+mj-cs"/>
              </a:rPr>
              <a:t>behaviour</a:t>
            </a:r>
            <a:r>
              <a:rPr lang="en-US" dirty="0">
                <a:latin typeface="+mj-lt"/>
                <a:ea typeface="+mj-ea"/>
                <a:cs typeface="+mj-cs"/>
              </a:rPr>
              <a:t> from a single day. </a:t>
            </a:r>
          </a:p>
          <a:p>
            <a:pPr marL="342900" indent="-342900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latin typeface="+mj-lt"/>
                <a:ea typeface="+mj-ea"/>
                <a:cs typeface="+mj-cs"/>
              </a:rPr>
              <a:t>Important predicators of BMI were not included in the model.</a:t>
            </a:r>
          </a:p>
          <a:p>
            <a:pPr marL="342900" indent="-342900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latin typeface="+mj-lt"/>
                <a:ea typeface="+mj-ea"/>
                <a:cs typeface="+mj-cs"/>
              </a:rPr>
              <a:t>BMI does not distinguish between fat mass and muscle mass</a:t>
            </a:r>
          </a:p>
          <a:p>
            <a:pPr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>
              <a:latin typeface="+mj-lt"/>
              <a:ea typeface="+mj-ea"/>
              <a:cs typeface="+mj-cs"/>
            </a:endParaRPr>
          </a:p>
          <a:p>
            <a:pPr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latin typeface="+mj-lt"/>
                <a:ea typeface="+mj-ea"/>
                <a:cs typeface="+mj-cs"/>
              </a:rPr>
              <a:t>These limitations help explain why the model had weak predictive power</a:t>
            </a:r>
          </a:p>
        </p:txBody>
      </p:sp>
    </p:spTree>
    <p:extLst>
      <p:ext uri="{BB962C8B-B14F-4D97-AF65-F5344CB8AC3E}">
        <p14:creationId xmlns:p14="http://schemas.microsoft.com/office/powerpoint/2010/main" val="30104206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69">
            <a:extLst>
              <a:ext uri="{FF2B5EF4-FFF2-40B4-BE49-F238E27FC236}">
                <a16:creationId xmlns:a16="http://schemas.microsoft.com/office/drawing/2014/main" id="{2753EF2A-E126-4B21-AC3D-7BF4258F6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3BBC4FB4-19BD-4626-A293-D8411F0E2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74" name="Oval 73">
            <a:extLst>
              <a:ext uri="{FF2B5EF4-FFF2-40B4-BE49-F238E27FC236}">
                <a16:creationId xmlns:a16="http://schemas.microsoft.com/office/drawing/2014/main" id="{6BAB8189-D27D-423E-B154-5E4DFD3F5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3122E102-9E03-43D3-B783-795507F4D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6AF0C8C1-0967-4B1A-9850-8B4AF2F3F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7DD20243-46C6-46E5-A705-B67ADDC88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2F8EAF-D9DE-9FD3-ED83-7032E7D7F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/>
              <a:t>Master Program Project reform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D8A57-68C7-1BAD-CE79-017C98015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>
              <a:spcAft>
                <a:spcPts val="600"/>
              </a:spcAft>
            </a:pPr>
            <a:fld id="{CC057153-B650-4DEB-B370-79DDCFDCE934}" type="slidenum">
              <a:rPr lang="en-US"/>
              <a:pPr defTabSz="457200"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A6679F-0290-515C-BB0F-947C10AC81E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03312" y="2052918"/>
            <a:ext cx="8946541" cy="419548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1400"/>
              <a:t>If this were a master's-level project, I would expand the analysis in  several ways: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1400"/>
              <a:t>Use a more detailed measure of physical activity, including frequency, duration, and intensity instead of a simple binary grouping 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1400"/>
              <a:t>Reduce or restructure the dietary variables to address multicollinearity more formally 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1400" dirty="0"/>
              <a:t>Incorporate additional predictors such as waist circumference, socioeconomic variables, health conditions, or environmental factors 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1400" dirty="0"/>
              <a:t>Use repeated or longer-term dietary and </a:t>
            </a:r>
            <a:r>
              <a:rPr lang="en-US" sz="1400" dirty="0" err="1"/>
              <a:t>behavioural</a:t>
            </a:r>
            <a:r>
              <a:rPr lang="en-US" sz="1400" dirty="0"/>
              <a:t> measures rather than relying on a single day of intake. 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1400"/>
              <a:t>Compare multiple modelling approaches and evaluate whether more advanced methods improve prediction in a meaningful way 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1400" dirty="0"/>
              <a:t>Explore causal questions more carefully rather than focusing mainly on association and interpretation.</a:t>
            </a:r>
          </a:p>
          <a:p>
            <a:pPr>
              <a:lnSpc>
                <a:spcPct val="90000"/>
              </a:lnSpc>
            </a:pPr>
            <a:endParaRPr lang="en-US" sz="1400"/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1400" dirty="0"/>
              <a:t>At a master's level, the goal would be to build a richer and more theoretically grounded model of BMI while still maintaining interpretability</a:t>
            </a:r>
          </a:p>
          <a:p>
            <a:pPr marL="457200" indent="-457200">
              <a:lnSpc>
                <a:spcPct val="90000"/>
              </a:lnSpc>
              <a:buFont typeface="Wingdings 3" charset="2"/>
              <a:buChar char=""/>
            </a:pPr>
            <a:endParaRPr lang="en-US" sz="140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B6F15B-92C0-806D-7631-A3635A42F7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457200">
              <a:spcAft>
                <a:spcPts val="600"/>
              </a:spcAft>
            </a:pPr>
            <a:fld id="{C769AFF9-B37A-4509-BBAB-27DBFDFA26BE}" type="datetime1">
              <a:rPr lang="en-US"/>
              <a:pPr defTabSz="457200">
                <a:spcAft>
                  <a:spcPts val="600"/>
                </a:spcAft>
              </a:pPr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3DC08D-8457-0839-8C25-A7C068F93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>
              <a:spcAft>
                <a:spcPts val="600"/>
              </a:spcAft>
            </a:pPr>
            <a:r>
              <a:rPr lang="en-US" b="0" i="0" kern="1200" dirty="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6510584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209B1-CECE-7466-7044-9D73619E5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553" y="-403"/>
            <a:ext cx="11347704" cy="786384"/>
          </a:xfrm>
        </p:spPr>
        <p:txBody>
          <a:bodyPr/>
          <a:lstStyle/>
          <a:p>
            <a:r>
              <a:rPr lang="en-US"/>
              <a:t>CONCLUSIONS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66681B-5E1B-BD2B-6960-3B46EFE83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553" y="789950"/>
            <a:ext cx="11347704" cy="5720578"/>
          </a:xfrm>
        </p:spPr>
        <p:txBody>
          <a:bodyPr/>
          <a:lstStyle/>
          <a:p>
            <a:r>
              <a:rPr lang="en-US"/>
              <a:t>The conclusions for the project is:</a:t>
            </a:r>
          </a:p>
          <a:p>
            <a:pPr marL="342900" indent="-342900">
              <a:buAutoNum type="arabicPeriod"/>
            </a:pPr>
            <a:r>
              <a:rPr lang="en-US"/>
              <a:t>This project followed a complete workflow from data merging to interpretation.</a:t>
            </a:r>
          </a:p>
          <a:p>
            <a:pPr marL="342900" indent="-342900">
              <a:buAutoNum type="arabicPeriod"/>
            </a:pPr>
            <a:r>
              <a:rPr lang="en-US" dirty="0"/>
              <a:t>The t-test and regression model were appropriate for the research question.</a:t>
            </a:r>
          </a:p>
          <a:p>
            <a:pPr marL="342900" indent="-342900">
              <a:buAutoNum type="arabicPeriod"/>
            </a:pPr>
            <a:r>
              <a:rPr lang="en-US" dirty="0"/>
              <a:t>The regression results showed that BMI is not easily explained by a small set of </a:t>
            </a:r>
            <a:r>
              <a:rPr lang="en-US"/>
              <a:t>self-reported</a:t>
            </a:r>
            <a:r>
              <a:rPr lang="en-US" dirty="0"/>
              <a:t> </a:t>
            </a:r>
            <a:r>
              <a:rPr lang="en-US"/>
              <a:t>lifestyle.</a:t>
            </a:r>
          </a:p>
          <a:p>
            <a:pPr marL="342900" indent="-342900">
              <a:buAutoNum type="arabicPeriod"/>
            </a:pPr>
            <a:r>
              <a:rPr lang="en-US" dirty="0"/>
              <a:t>The most important result was not strong predication, but a clear understanding of the </a:t>
            </a:r>
            <a:r>
              <a:rPr lang="en-US"/>
              <a:t>model's limitations</a:t>
            </a:r>
          </a:p>
          <a:p>
            <a:r>
              <a:rPr lang="en-US" dirty="0"/>
              <a:t>Final </a:t>
            </a:r>
            <a:r>
              <a:rPr lang="en-US"/>
              <a:t>takeaway:</a:t>
            </a:r>
          </a:p>
          <a:p>
            <a:r>
              <a:rPr lang="en-US"/>
              <a:t>This project shows the importance of careful interpretation when using public health data to study complex outcomes like BMI.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47696-CC61-C5A5-6C0C-BC554FB64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170B-54FF-401A-804E-64B53FFEC9A3}" type="datetime1">
              <a:rPr lang="en-US" smtClean="0"/>
              <a:t>4/19/2026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C9FFD-93B6-D3DC-72EF-DBAF2803A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738C8-C838-438B-F934-0218EC261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6869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4C70EC8-9E20-414A-9F27-409BF843879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EE88E53-1348-4048-BE11-4BFB7428CF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9038C17-BDB3-4721-A558-8B6A63F5753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590</Words>
  <Application>Microsoft Office PowerPoint</Application>
  <PresentationFormat>Widescreen</PresentationFormat>
  <Paragraphs>119</Paragraphs>
  <Slides>15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Ion</vt:lpstr>
      <vt:lpstr>Physical activity,  nutrition, AND BMI I</vt:lpstr>
      <vt:lpstr>Initial thoughts</vt:lpstr>
      <vt:lpstr>Research questions</vt:lpstr>
      <vt:lpstr>PROJECT WORKFLOW</vt:lpstr>
      <vt:lpstr>Data Source: 1. NHANES 2015-2016 and 2017-2018 2. Files used: DEMO, DR1TOT, PAQ, BMX 3. Datasets merged using SEQN  Outcome Variable: 1. BMI  Predicator Variables: 1. Age 2. Gender 3. Activity group 4. Calories 5. Protein 6. Carbohydrates 7. Fat</vt:lpstr>
      <vt:lpstr>Data Preparation</vt:lpstr>
      <vt:lpstr>Activity Group Definition</vt:lpstr>
      <vt:lpstr>Exploratory Data Analysis</vt:lpstr>
      <vt:lpstr>BMI Differences by Activity Group: 1. I used an independent samples t-test to compare BMI between Active and Not Active participants. 2. The activity groups were based on self-reported moderate or vigorous activity  Results: 1. Mean BMI (Active): 29.939830692424568 2. Mean BMI (Not Active): 29.34665700308027 3. T-statistic: 4.102133353427426 4. P-value: 4.127000212838253  Interpretation: 1. There is a statistically significant difference in BMI between the two activity groups. 2. Because the activity variable is simplified, the results should be interpreted with caution.</vt:lpstr>
      <vt:lpstr>Goal: 1. To examine whether BMI can be explained or predicted using a small set of demographic, activity, and dietary variables.  Model used: 1. Linear Regression  Predicators: 1. Age 2. Gender 3. Activity group 4. Calories 5. Protein 6. Carbohydrates 7. Fat  I kept linear regression as the final model because Ridge regression did not meaningfully improve performance.</vt:lpstr>
      <vt:lpstr>MODEL PERFORMANCE</vt:lpstr>
      <vt:lpstr>Coefficients and Multicollinearity </vt:lpstr>
      <vt:lpstr>LIMITATIONS</vt:lpstr>
      <vt:lpstr>Master Program Project reform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707</cp:revision>
  <dcterms:created xsi:type="dcterms:W3CDTF">2026-04-19T17:48:31Z</dcterms:created>
  <dcterms:modified xsi:type="dcterms:W3CDTF">2026-04-20T04:57:41Z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